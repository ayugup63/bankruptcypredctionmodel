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0" r:id="rId3"/>
    <p:sldId id="257" r:id="rId4"/>
    <p:sldId id="258" r:id="rId5"/>
    <p:sldId id="268" r:id="rId6"/>
    <p:sldId id="259" r:id="rId7"/>
    <p:sldId id="269" r:id="rId8"/>
    <p:sldId id="261" r:id="rId9"/>
    <p:sldId id="276" r:id="rId10"/>
    <p:sldId id="270" r:id="rId11"/>
    <p:sldId id="263" r:id="rId12"/>
    <p:sldId id="274" r:id="rId13"/>
    <p:sldId id="275" r:id="rId14"/>
    <p:sldId id="264" r:id="rId15"/>
    <p:sldId id="271" r:id="rId16"/>
    <p:sldId id="277" r:id="rId17"/>
    <p:sldId id="278" r:id="rId18"/>
    <p:sldId id="279" r:id="rId19"/>
    <p:sldId id="286" r:id="rId20"/>
    <p:sldId id="288" r:id="rId21"/>
    <p:sldId id="289" r:id="rId22"/>
    <p:sldId id="293" r:id="rId23"/>
    <p:sldId id="294" r:id="rId24"/>
    <p:sldId id="295" r:id="rId25"/>
    <p:sldId id="296" r:id="rId26"/>
    <p:sldId id="287" r:id="rId27"/>
    <p:sldId id="297" r:id="rId28"/>
    <p:sldId id="280" r:id="rId29"/>
    <p:sldId id="281" r:id="rId30"/>
    <p:sldId id="282" r:id="rId31"/>
    <p:sldId id="283" r:id="rId32"/>
    <p:sldId id="284" r:id="rId33"/>
    <p:sldId id="285" r:id="rId34"/>
    <p:sldId id="292" r:id="rId35"/>
    <p:sldId id="298" r:id="rId36"/>
    <p:sldId id="291" r:id="rId37"/>
    <p:sldId id="299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F2E22-37F9-46FF-97C0-F5A38E77381D}" v="185" dt="2025-12-01T20:07:28.623"/>
    <p1510:client id="{44E2BC47-41AF-B9F5-A4C0-79D37F79CE93}" v="7" dt="2025-12-02T01:15:11.904"/>
    <p1510:client id="{4C93CC0F-B841-238D-9DC8-0F7167A1C368}" v="86" dt="2025-12-02T23:23:56.434"/>
    <p1510:client id="{6495A121-ECF4-3D81-17AE-5C92F18606E0}" v="15" dt="2025-12-01T23:42:28.506"/>
    <p1510:client id="{69E5D8E6-3B1E-5AC2-7945-94C5953717FC}" v="16" dt="2025-12-01T14:12:43.404"/>
    <p1510:client id="{87899054-6970-A854-3559-30F979FB6FB4}" v="80" dt="2025-12-03T03:28:17.924"/>
    <p1510:client id="{95CBD570-E8AA-1880-9EA3-148CB5EB2F73}" v="3" dt="2025-12-02T17:43:57.377"/>
    <p1510:client id="{98591938-0825-37DD-22FB-ECE0E4092605}" v="832" dt="2025-12-02T16:08:54.772"/>
    <p1510:client id="{FE09B64E-2DA1-361B-9E60-B5C8F8F00C13}" v="43" dt="2025-12-02T23:50:36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i Gupta" userId="02b9627b939bb73b" providerId="Windows Live" clId="Web-{95CBD570-E8AA-1880-9EA3-148CB5EB2F73}"/>
    <pc:docChg chg="modSld">
      <pc:chgData name="Ayushi Gupta" userId="02b9627b939bb73b" providerId="Windows Live" clId="Web-{95CBD570-E8AA-1880-9EA3-148CB5EB2F73}" dt="2025-12-02T17:43:57.377" v="8"/>
      <pc:docMkLst>
        <pc:docMk/>
      </pc:docMkLst>
      <pc:sldChg chg="addSp delSp modSp mod setBg">
        <pc:chgData name="Ayushi Gupta" userId="02b9627b939bb73b" providerId="Windows Live" clId="Web-{95CBD570-E8AA-1880-9EA3-148CB5EB2F73}" dt="2025-12-02T17:43:57.377" v="8"/>
        <pc:sldMkLst>
          <pc:docMk/>
          <pc:sldMk cId="2806938661" sldId="291"/>
        </pc:sldMkLst>
        <pc:spChg chg="mod ord">
          <ac:chgData name="Ayushi Gupta" userId="02b9627b939bb73b" providerId="Windows Live" clId="Web-{95CBD570-E8AA-1880-9EA3-148CB5EB2F73}" dt="2025-12-02T17:43:57.377" v="8"/>
          <ac:spMkLst>
            <pc:docMk/>
            <pc:sldMk cId="2806938661" sldId="291"/>
            <ac:spMk id="3" creationId="{9D047CB5-8EBE-1B78-5B1E-72C2478941C6}"/>
          </ac:spMkLst>
        </pc:spChg>
        <pc:spChg chg="mod">
          <ac:chgData name="Ayushi Gupta" userId="02b9627b939bb73b" providerId="Windows Live" clId="Web-{95CBD570-E8AA-1880-9EA3-148CB5EB2F73}" dt="2025-12-02T17:43:57.377" v="8"/>
          <ac:spMkLst>
            <pc:docMk/>
            <pc:sldMk cId="2806938661" sldId="291"/>
            <ac:spMk id="6" creationId="{C9B8B8B3-83A0-F823-E73D-A30F24547CE2}"/>
          </ac:spMkLst>
        </pc:spChg>
        <pc:spChg chg="add del">
          <ac:chgData name="Ayushi Gupta" userId="02b9627b939bb73b" providerId="Windows Live" clId="Web-{95CBD570-E8AA-1880-9EA3-148CB5EB2F73}" dt="2025-12-02T17:43:48.658" v="4"/>
          <ac:spMkLst>
            <pc:docMk/>
            <pc:sldMk cId="2806938661" sldId="291"/>
            <ac:spMk id="12" creationId="{959C6B72-F8E6-4281-8F3E-93FC0DC98039}"/>
          </ac:spMkLst>
        </pc:spChg>
        <pc:spChg chg="add del">
          <ac:chgData name="Ayushi Gupta" userId="02b9627b939bb73b" providerId="Windows Live" clId="Web-{95CBD570-E8AA-1880-9EA3-148CB5EB2F73}" dt="2025-12-02T17:43:48.658" v="4"/>
          <ac:spMkLst>
            <pc:docMk/>
            <pc:sldMk cId="2806938661" sldId="291"/>
            <ac:spMk id="14" creationId="{490234EE-E0D8-4805-9227-CCEAC601691F}"/>
          </ac:spMkLst>
        </pc:spChg>
        <pc:spChg chg="add del">
          <ac:chgData name="Ayushi Gupta" userId="02b9627b939bb73b" providerId="Windows Live" clId="Web-{95CBD570-E8AA-1880-9EA3-148CB5EB2F73}" dt="2025-12-02T17:43:52.486" v="6"/>
          <ac:spMkLst>
            <pc:docMk/>
            <pc:sldMk cId="2806938661" sldId="291"/>
            <ac:spMk id="16" creationId="{6804CCDD-88C7-4B43-A381-F2D8DAF62BE3}"/>
          </ac:spMkLst>
        </pc:spChg>
        <pc:spChg chg="add del">
          <ac:chgData name="Ayushi Gupta" userId="02b9627b939bb73b" providerId="Windows Live" clId="Web-{95CBD570-E8AA-1880-9EA3-148CB5EB2F73}" dt="2025-12-02T17:43:52.486" v="6"/>
          <ac:spMkLst>
            <pc:docMk/>
            <pc:sldMk cId="2806938661" sldId="291"/>
            <ac:spMk id="17" creationId="{BBECEAC1-4BBC-4815-B44E-D9B231A3FC16}"/>
          </ac:spMkLst>
        </pc:spChg>
        <pc:spChg chg="add del">
          <ac:chgData name="Ayushi Gupta" userId="02b9627b939bb73b" providerId="Windows Live" clId="Web-{95CBD570-E8AA-1880-9EA3-148CB5EB2F73}" dt="2025-12-02T17:43:57.377" v="8"/>
          <ac:spMkLst>
            <pc:docMk/>
            <pc:sldMk cId="2806938661" sldId="291"/>
            <ac:spMk id="19" creationId="{D75A5B51-0925-4835-8511-A0DD17EAA97C}"/>
          </ac:spMkLst>
        </pc:spChg>
        <pc:spChg chg="add del">
          <ac:chgData name="Ayushi Gupta" userId="02b9627b939bb73b" providerId="Windows Live" clId="Web-{95CBD570-E8AA-1880-9EA3-148CB5EB2F73}" dt="2025-12-02T17:43:57.377" v="8"/>
          <ac:spMkLst>
            <pc:docMk/>
            <pc:sldMk cId="2806938661" sldId="291"/>
            <ac:spMk id="20" creationId="{5CDFD20D-8E4F-4E3A-AF87-93F23E0DBFB3}"/>
          </ac:spMkLst>
        </pc:spChg>
        <pc:picChg chg="mod ord">
          <ac:chgData name="Ayushi Gupta" userId="02b9627b939bb73b" providerId="Windows Live" clId="Web-{95CBD570-E8AA-1880-9EA3-148CB5EB2F73}" dt="2025-12-02T17:43:57.377" v="8"/>
          <ac:picMkLst>
            <pc:docMk/>
            <pc:sldMk cId="2806938661" sldId="291"/>
            <ac:picMk id="4" creationId="{4A01144A-F967-7BD5-20FC-6D3200C86977}"/>
          </ac:picMkLst>
        </pc:picChg>
        <pc:picChg chg="mod ord">
          <ac:chgData name="Ayushi Gupta" userId="02b9627b939bb73b" providerId="Windows Live" clId="Web-{95CBD570-E8AA-1880-9EA3-148CB5EB2F73}" dt="2025-12-02T17:43:57.377" v="8"/>
          <ac:picMkLst>
            <pc:docMk/>
            <pc:sldMk cId="2806938661" sldId="291"/>
            <ac:picMk id="5" creationId="{B3C56038-0751-CE2D-4CBE-DBC63E0704D4}"/>
          </ac:picMkLst>
        </pc:picChg>
        <pc:picChg chg="mod">
          <ac:chgData name="Ayushi Gupta" userId="02b9627b939bb73b" providerId="Windows Live" clId="Web-{95CBD570-E8AA-1880-9EA3-148CB5EB2F73}" dt="2025-12-02T17:43:57.377" v="8"/>
          <ac:picMkLst>
            <pc:docMk/>
            <pc:sldMk cId="2806938661" sldId="291"/>
            <ac:picMk id="7" creationId="{7744E366-3345-EA20-7F40-73673E685E61}"/>
          </ac:picMkLst>
        </pc:picChg>
      </pc:sldChg>
      <pc:sldChg chg="addSp modSp mod setBg">
        <pc:chgData name="Ayushi Gupta" userId="02b9627b939bb73b" providerId="Windows Live" clId="Web-{95CBD570-E8AA-1880-9EA3-148CB5EB2F73}" dt="2025-12-02T17:43:24.311" v="2"/>
        <pc:sldMkLst>
          <pc:docMk/>
          <pc:sldMk cId="2545504564" sldId="292"/>
        </pc:sldMkLst>
        <pc:spChg chg="mod">
          <ac:chgData name="Ayushi Gupta" userId="02b9627b939bb73b" providerId="Windows Live" clId="Web-{95CBD570-E8AA-1880-9EA3-148CB5EB2F73}" dt="2025-12-02T17:43:24.311" v="2"/>
          <ac:spMkLst>
            <pc:docMk/>
            <pc:sldMk cId="2545504564" sldId="292"/>
            <ac:spMk id="2" creationId="{1E4A7A59-9D99-7D8F-2102-D372189FD56D}"/>
          </ac:spMkLst>
        </pc:spChg>
        <pc:spChg chg="mod">
          <ac:chgData name="Ayushi Gupta" userId="02b9627b939bb73b" providerId="Windows Live" clId="Web-{95CBD570-E8AA-1880-9EA3-148CB5EB2F73}" dt="2025-12-02T17:43:24.311" v="2"/>
          <ac:spMkLst>
            <pc:docMk/>
            <pc:sldMk cId="2545504564" sldId="292"/>
            <ac:spMk id="4" creationId="{1945E45F-5AA3-7838-2BEF-0F376CFC2790}"/>
          </ac:spMkLst>
        </pc:spChg>
        <pc:spChg chg="add">
          <ac:chgData name="Ayushi Gupta" userId="02b9627b939bb73b" providerId="Windows Live" clId="Web-{95CBD570-E8AA-1880-9EA3-148CB5EB2F73}" dt="2025-12-02T17:43:24.311" v="2"/>
          <ac:spMkLst>
            <pc:docMk/>
            <pc:sldMk cId="2545504564" sldId="292"/>
            <ac:spMk id="11" creationId="{D75A5B51-0925-4835-8511-A0DD17EAA97C}"/>
          </ac:spMkLst>
        </pc:spChg>
        <pc:spChg chg="add">
          <ac:chgData name="Ayushi Gupta" userId="02b9627b939bb73b" providerId="Windows Live" clId="Web-{95CBD570-E8AA-1880-9EA3-148CB5EB2F73}" dt="2025-12-02T17:43:24.311" v="2"/>
          <ac:spMkLst>
            <pc:docMk/>
            <pc:sldMk cId="2545504564" sldId="292"/>
            <ac:spMk id="13" creationId="{5CDFD20D-8E4F-4E3A-AF87-93F23E0DBFB3}"/>
          </ac:spMkLst>
        </pc:spChg>
        <pc:picChg chg="mod ord">
          <ac:chgData name="Ayushi Gupta" userId="02b9627b939bb73b" providerId="Windows Live" clId="Web-{95CBD570-E8AA-1880-9EA3-148CB5EB2F73}" dt="2025-12-02T17:43:24.311" v="2"/>
          <ac:picMkLst>
            <pc:docMk/>
            <pc:sldMk cId="2545504564" sldId="292"/>
            <ac:picMk id="3" creationId="{26AA9B52-5676-4C75-BDC3-D9DD835849B8}"/>
          </ac:picMkLst>
        </pc:picChg>
        <pc:picChg chg="mod">
          <ac:chgData name="Ayushi Gupta" userId="02b9627b939bb73b" providerId="Windows Live" clId="Web-{95CBD570-E8AA-1880-9EA3-148CB5EB2F73}" dt="2025-12-02T17:43:24.311" v="2"/>
          <ac:picMkLst>
            <pc:docMk/>
            <pc:sldMk cId="2545504564" sldId="292"/>
            <ac:picMk id="5" creationId="{C0BF3910-BFF6-05CB-A040-5C495EF9A988}"/>
          </ac:picMkLst>
        </pc:picChg>
        <pc:picChg chg="mod">
          <ac:chgData name="Ayushi Gupta" userId="02b9627b939bb73b" providerId="Windows Live" clId="Web-{95CBD570-E8AA-1880-9EA3-148CB5EB2F73}" dt="2025-12-02T17:43:24.311" v="2"/>
          <ac:picMkLst>
            <pc:docMk/>
            <pc:sldMk cId="2545504564" sldId="292"/>
            <ac:picMk id="6" creationId="{95B44A1B-5DEF-B1CA-83BC-7C25AA3D910D}"/>
          </ac:picMkLst>
        </pc:picChg>
      </pc:sldChg>
    </pc:docChg>
  </pc:docChgLst>
  <pc:docChgLst>
    <pc:chgData clId="Web-{4C93CC0F-B841-238D-9DC8-0F7167A1C368}"/>
    <pc:docChg chg="modSld">
      <pc:chgData name="" userId="" providerId="" clId="Web-{4C93CC0F-B841-238D-9DC8-0F7167A1C368}" dt="2025-12-02T22:33:54.399" v="0" actId="14100"/>
      <pc:docMkLst>
        <pc:docMk/>
      </pc:docMkLst>
      <pc:sldChg chg="modSp">
        <pc:chgData name="" userId="" providerId="" clId="Web-{4C93CC0F-B841-238D-9DC8-0F7167A1C368}" dt="2025-12-02T22:33:54.399" v="0" actId="14100"/>
        <pc:sldMkLst>
          <pc:docMk/>
          <pc:sldMk cId="0" sldId="256"/>
        </pc:sldMkLst>
        <pc:picChg chg="mod">
          <ac:chgData name="" userId="" providerId="" clId="Web-{4C93CC0F-B841-238D-9DC8-0F7167A1C368}" dt="2025-12-02T22:33:54.399" v="0" actId="14100"/>
          <ac:picMkLst>
            <pc:docMk/>
            <pc:sldMk cId="0" sldId="256"/>
            <ac:picMk id="13" creationId="{910EC393-2311-323E-64FA-F6850C63F006}"/>
          </ac:picMkLst>
        </pc:picChg>
      </pc:sldChg>
    </pc:docChg>
  </pc:docChgLst>
  <pc:docChgLst>
    <pc:chgData name="Shravani Sawant" userId="d4ff99d84b5d7c0a" providerId="Windows Live" clId="Web-{98591938-0825-37DD-22FB-ECE0E4092605}"/>
    <pc:docChg chg="modSld">
      <pc:chgData name="Shravani Sawant" userId="d4ff99d84b5d7c0a" providerId="Windows Live" clId="Web-{98591938-0825-37DD-22FB-ECE0E4092605}" dt="2025-12-02T16:08:54.772" v="832" actId="1076"/>
      <pc:docMkLst>
        <pc:docMk/>
      </pc:docMkLst>
      <pc:sldChg chg="addSp modSp">
        <pc:chgData name="Shravani Sawant" userId="d4ff99d84b5d7c0a" providerId="Windows Live" clId="Web-{98591938-0825-37DD-22FB-ECE0E4092605}" dt="2025-12-02T16:08:33.615" v="828" actId="1076"/>
        <pc:sldMkLst>
          <pc:docMk/>
          <pc:sldMk cId="2806938661" sldId="291"/>
        </pc:sldMkLst>
        <pc:spChg chg="add mod">
          <ac:chgData name="Shravani Sawant" userId="d4ff99d84b5d7c0a" providerId="Windows Live" clId="Web-{98591938-0825-37DD-22FB-ECE0E4092605}" dt="2025-12-02T16:07:49.973" v="814" actId="14100"/>
          <ac:spMkLst>
            <pc:docMk/>
            <pc:sldMk cId="2806938661" sldId="291"/>
            <ac:spMk id="3" creationId="{9D047CB5-8EBE-1B78-5B1E-72C2478941C6}"/>
          </ac:spMkLst>
        </pc:spChg>
        <pc:spChg chg="mod">
          <ac:chgData name="Shravani Sawant" userId="d4ff99d84b5d7c0a" providerId="Windows Live" clId="Web-{98591938-0825-37DD-22FB-ECE0E4092605}" dt="2025-12-02T16:07:44.504" v="812" actId="1076"/>
          <ac:spMkLst>
            <pc:docMk/>
            <pc:sldMk cId="2806938661" sldId="291"/>
            <ac:spMk id="6" creationId="{C9B8B8B3-83A0-F823-E73D-A30F24547CE2}"/>
          </ac:spMkLst>
        </pc:spChg>
        <pc:picChg chg="add mod">
          <ac:chgData name="Shravani Sawant" userId="d4ff99d84b5d7c0a" providerId="Windows Live" clId="Web-{98591938-0825-37DD-22FB-ECE0E4092605}" dt="2025-12-02T16:08:12.162" v="820" actId="1076"/>
          <ac:picMkLst>
            <pc:docMk/>
            <pc:sldMk cId="2806938661" sldId="291"/>
            <ac:picMk id="4" creationId="{4A01144A-F967-7BD5-20FC-6D3200C86977}"/>
          </ac:picMkLst>
        </pc:picChg>
        <pc:picChg chg="add mod">
          <ac:chgData name="Shravani Sawant" userId="d4ff99d84b5d7c0a" providerId="Windows Live" clId="Web-{98591938-0825-37DD-22FB-ECE0E4092605}" dt="2025-12-02T16:08:26.709" v="827" actId="1076"/>
          <ac:picMkLst>
            <pc:docMk/>
            <pc:sldMk cId="2806938661" sldId="291"/>
            <ac:picMk id="5" creationId="{B3C56038-0751-CE2D-4CBE-DBC63E0704D4}"/>
          </ac:picMkLst>
        </pc:picChg>
        <pc:picChg chg="add mod">
          <ac:chgData name="Shravani Sawant" userId="d4ff99d84b5d7c0a" providerId="Windows Live" clId="Web-{98591938-0825-37DD-22FB-ECE0E4092605}" dt="2025-12-02T16:08:33.615" v="828" actId="1076"/>
          <ac:picMkLst>
            <pc:docMk/>
            <pc:sldMk cId="2806938661" sldId="291"/>
            <ac:picMk id="7" creationId="{7744E366-3345-EA20-7F40-73673E685E61}"/>
          </ac:picMkLst>
        </pc:picChg>
      </pc:sldChg>
      <pc:sldChg chg="addSp modSp">
        <pc:chgData name="Shravani Sawant" userId="d4ff99d84b5d7c0a" providerId="Windows Live" clId="Web-{98591938-0825-37DD-22FB-ECE0E4092605}" dt="2025-12-02T16:08:54.772" v="832" actId="1076"/>
        <pc:sldMkLst>
          <pc:docMk/>
          <pc:sldMk cId="2545504564" sldId="292"/>
        </pc:sldMkLst>
        <pc:spChg chg="mod">
          <ac:chgData name="Shravani Sawant" userId="d4ff99d84b5d7c0a" providerId="Windows Live" clId="Web-{98591938-0825-37DD-22FB-ECE0E4092605}" dt="2025-12-02T16:08:49.506" v="830" actId="1076"/>
          <ac:spMkLst>
            <pc:docMk/>
            <pc:sldMk cId="2545504564" sldId="292"/>
            <ac:spMk id="2" creationId="{1E4A7A59-9D99-7D8F-2102-D372189FD56D}"/>
          </ac:spMkLst>
        </pc:spChg>
        <pc:spChg chg="mod">
          <ac:chgData name="Shravani Sawant" userId="d4ff99d84b5d7c0a" providerId="Windows Live" clId="Web-{98591938-0825-37DD-22FB-ECE0E4092605}" dt="2025-12-02T16:08:54.772" v="832" actId="1076"/>
          <ac:spMkLst>
            <pc:docMk/>
            <pc:sldMk cId="2545504564" sldId="292"/>
            <ac:spMk id="4" creationId="{1945E45F-5AA3-7838-2BEF-0F376CFC2790}"/>
          </ac:spMkLst>
        </pc:spChg>
        <pc:picChg chg="add mod">
          <ac:chgData name="Shravani Sawant" userId="d4ff99d84b5d7c0a" providerId="Windows Live" clId="Web-{98591938-0825-37DD-22FB-ECE0E4092605}" dt="2025-12-02T15:59:49.993" v="262" actId="1076"/>
          <ac:picMkLst>
            <pc:docMk/>
            <pc:sldMk cId="2545504564" sldId="292"/>
            <ac:picMk id="3" creationId="{26AA9B52-5676-4C75-BDC3-D9DD835849B8}"/>
          </ac:picMkLst>
        </pc:picChg>
        <pc:picChg chg="add mod">
          <ac:chgData name="Shravani Sawant" userId="d4ff99d84b5d7c0a" providerId="Windows Live" clId="Web-{98591938-0825-37DD-22FB-ECE0E4092605}" dt="2025-12-02T15:59:55.728" v="264" actId="1076"/>
          <ac:picMkLst>
            <pc:docMk/>
            <pc:sldMk cId="2545504564" sldId="292"/>
            <ac:picMk id="5" creationId="{C0BF3910-BFF6-05CB-A040-5C495EF9A988}"/>
          </ac:picMkLst>
        </pc:picChg>
        <pc:picChg chg="add mod">
          <ac:chgData name="Shravani Sawant" userId="d4ff99d84b5d7c0a" providerId="Windows Live" clId="Web-{98591938-0825-37DD-22FB-ECE0E4092605}" dt="2025-12-02T15:59:53.571" v="263" actId="1076"/>
          <ac:picMkLst>
            <pc:docMk/>
            <pc:sldMk cId="2545504564" sldId="292"/>
            <ac:picMk id="6" creationId="{95B44A1B-5DEF-B1CA-83BC-7C25AA3D910D}"/>
          </ac:picMkLst>
        </pc:picChg>
      </pc:sldChg>
    </pc:docChg>
  </pc:docChgLst>
  <pc:docChgLst>
    <pc:chgData name="Ayushi Gupta" userId="02b9627b939bb73b" providerId="Windows Live" clId="Web-{4C93CC0F-B841-238D-9DC8-0F7167A1C368}"/>
    <pc:docChg chg="modSld">
      <pc:chgData name="Ayushi Gupta" userId="02b9627b939bb73b" providerId="Windows Live" clId="Web-{4C93CC0F-B841-238D-9DC8-0F7167A1C368}" dt="2025-12-02T23:23:54.887" v="78" actId="20577"/>
      <pc:docMkLst>
        <pc:docMk/>
      </pc:docMkLst>
      <pc:sldChg chg="modSp">
        <pc:chgData name="Ayushi Gupta" userId="02b9627b939bb73b" providerId="Windows Live" clId="Web-{4C93CC0F-B841-238D-9DC8-0F7167A1C368}" dt="2025-12-02T22:34:23.071" v="3" actId="1076"/>
        <pc:sldMkLst>
          <pc:docMk/>
          <pc:sldMk cId="0" sldId="256"/>
        </pc:sldMkLst>
        <pc:picChg chg="mod">
          <ac:chgData name="Ayushi Gupta" userId="02b9627b939bb73b" providerId="Windows Live" clId="Web-{4C93CC0F-B841-238D-9DC8-0F7167A1C368}" dt="2025-12-02T22:34:10.727" v="1" actId="14100"/>
          <ac:picMkLst>
            <pc:docMk/>
            <pc:sldMk cId="0" sldId="256"/>
            <ac:picMk id="3" creationId="{C0A2D5F6-432D-70A4-5107-84CBC94C9E26}"/>
          </ac:picMkLst>
        </pc:picChg>
        <pc:picChg chg="mod">
          <ac:chgData name="Ayushi Gupta" userId="02b9627b939bb73b" providerId="Windows Live" clId="Web-{4C93CC0F-B841-238D-9DC8-0F7167A1C368}" dt="2025-12-02T22:34:00.524" v="0" actId="14100"/>
          <ac:picMkLst>
            <pc:docMk/>
            <pc:sldMk cId="0" sldId="256"/>
            <ac:picMk id="10" creationId="{E548A18E-73EA-3596-6064-4FD6DA633330}"/>
          </ac:picMkLst>
        </pc:picChg>
        <pc:picChg chg="mod">
          <ac:chgData name="Ayushi Gupta" userId="02b9627b939bb73b" providerId="Windows Live" clId="Web-{4C93CC0F-B841-238D-9DC8-0F7167A1C368}" dt="2025-12-02T22:34:23.071" v="3" actId="1076"/>
          <ac:picMkLst>
            <pc:docMk/>
            <pc:sldMk cId="0" sldId="256"/>
            <ac:picMk id="15" creationId="{A37B7A3E-C048-B990-32B5-B06039338B7B}"/>
          </ac:picMkLst>
        </pc:picChg>
      </pc:sldChg>
      <pc:sldChg chg="modSp">
        <pc:chgData name="Ayushi Gupta" userId="02b9627b939bb73b" providerId="Windows Live" clId="Web-{4C93CC0F-B841-238D-9DC8-0F7167A1C368}" dt="2025-12-02T22:39:06.356" v="17" actId="20577"/>
        <pc:sldMkLst>
          <pc:docMk/>
          <pc:sldMk cId="0" sldId="258"/>
        </pc:sldMkLst>
        <pc:spChg chg="mod">
          <ac:chgData name="Ayushi Gupta" userId="02b9627b939bb73b" providerId="Windows Live" clId="Web-{4C93CC0F-B841-238D-9DC8-0F7167A1C368}" dt="2025-12-02T22:39:06.356" v="17" actId="20577"/>
          <ac:spMkLst>
            <pc:docMk/>
            <pc:sldMk cId="0" sldId="258"/>
            <ac:spMk id="4" creationId="{00000000-0000-0000-0000-000000000000}"/>
          </ac:spMkLst>
        </pc:spChg>
      </pc:sldChg>
      <pc:sldChg chg="addSp modSp">
        <pc:chgData name="Ayushi Gupta" userId="02b9627b939bb73b" providerId="Windows Live" clId="Web-{4C93CC0F-B841-238D-9DC8-0F7167A1C368}" dt="2025-12-02T23:23:54.887" v="78" actId="20577"/>
        <pc:sldMkLst>
          <pc:docMk/>
          <pc:sldMk cId="0" sldId="264"/>
        </pc:sldMkLst>
        <pc:spChg chg="add mod">
          <ac:chgData name="Ayushi Gupta" userId="02b9627b939bb73b" providerId="Windows Live" clId="Web-{4C93CC0F-B841-238D-9DC8-0F7167A1C368}" dt="2025-12-02T23:23:54.887" v="78" actId="20577"/>
          <ac:spMkLst>
            <pc:docMk/>
            <pc:sldMk cId="0" sldId="264"/>
            <ac:spMk id="3" creationId="{ADEF1C39-6169-D977-F71C-6E9590FDB073}"/>
          </ac:spMkLst>
        </pc:spChg>
        <pc:spChg chg="mod">
          <ac:chgData name="Ayushi Gupta" userId="02b9627b939bb73b" providerId="Windows Live" clId="Web-{4C93CC0F-B841-238D-9DC8-0F7167A1C368}" dt="2025-12-02T23:22:48.821" v="52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Ayushi Gupta" userId="02b9627b939bb73b" providerId="Windows Live" clId="Web-{4C93CC0F-B841-238D-9DC8-0F7167A1C368}" dt="2025-12-02T23:23:30.292" v="65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Ayushi Gupta" userId="02b9627b939bb73b" providerId="Windows Live" clId="Web-{4C93CC0F-B841-238D-9DC8-0F7167A1C368}" dt="2025-12-02T23:23:07.432" v="55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Ayushi Gupta" userId="02b9627b939bb73b" providerId="Windows Live" clId="Web-{4C93CC0F-B841-238D-9DC8-0F7167A1C368}" dt="2025-12-02T23:23:19.823" v="59" actId="20577"/>
          <ac:spMkLst>
            <pc:docMk/>
            <pc:sldMk cId="0" sldId="264"/>
            <ac:spMk id="7" creationId="{00000000-0000-0000-0000-000000000000}"/>
          </ac:spMkLst>
        </pc:spChg>
      </pc:sldChg>
      <pc:sldChg chg="addSp delSp modSp">
        <pc:chgData name="Ayushi Gupta" userId="02b9627b939bb73b" providerId="Windows Live" clId="Web-{4C93CC0F-B841-238D-9DC8-0F7167A1C368}" dt="2025-12-02T23:22:06.865" v="50" actId="1076"/>
        <pc:sldMkLst>
          <pc:docMk/>
          <pc:sldMk cId="1699137516" sldId="271"/>
        </pc:sldMkLst>
        <pc:picChg chg="add mod">
          <ac:chgData name="Ayushi Gupta" userId="02b9627b939bb73b" providerId="Windows Live" clId="Web-{4C93CC0F-B841-238D-9DC8-0F7167A1C368}" dt="2025-12-02T23:22:02.380" v="47" actId="1076"/>
          <ac:picMkLst>
            <pc:docMk/>
            <pc:sldMk cId="1699137516" sldId="271"/>
            <ac:picMk id="3" creationId="{3DB0B755-303B-A718-DAD5-1AC5D0D0D15E}"/>
          </ac:picMkLst>
        </pc:picChg>
        <pc:picChg chg="add mod">
          <ac:chgData name="Ayushi Gupta" userId="02b9627b939bb73b" providerId="Windows Live" clId="Web-{4C93CC0F-B841-238D-9DC8-0F7167A1C368}" dt="2025-12-02T23:22:06.865" v="50" actId="1076"/>
          <ac:picMkLst>
            <pc:docMk/>
            <pc:sldMk cId="1699137516" sldId="271"/>
            <ac:picMk id="4" creationId="{D8D80F52-EAE6-C6CC-23CE-C379EEAA6B4A}"/>
          </ac:picMkLst>
        </pc:picChg>
        <pc:picChg chg="del">
          <ac:chgData name="Ayushi Gupta" userId="02b9627b939bb73b" providerId="Windows Live" clId="Web-{4C93CC0F-B841-238D-9DC8-0F7167A1C368}" dt="2025-12-02T23:21:35.847" v="39"/>
          <ac:picMkLst>
            <pc:docMk/>
            <pc:sldMk cId="1699137516" sldId="271"/>
            <ac:picMk id="6" creationId="{9598EC18-9BD4-53A1-597C-24E42CD21919}"/>
          </ac:picMkLst>
        </pc:picChg>
        <pc:picChg chg="del">
          <ac:chgData name="Ayushi Gupta" userId="02b9627b939bb73b" providerId="Windows Live" clId="Web-{4C93CC0F-B841-238D-9DC8-0F7167A1C368}" dt="2025-12-02T23:21:47.614" v="44"/>
          <ac:picMkLst>
            <pc:docMk/>
            <pc:sldMk cId="1699137516" sldId="271"/>
            <ac:picMk id="9" creationId="{E71D3BAF-8EA9-5CB6-AABF-AF7F315A6AA7}"/>
          </ac:picMkLst>
        </pc:picChg>
      </pc:sldChg>
      <pc:sldChg chg="modSp">
        <pc:chgData name="Ayushi Gupta" userId="02b9627b939bb73b" providerId="Windows Live" clId="Web-{4C93CC0F-B841-238D-9DC8-0F7167A1C368}" dt="2025-12-02T23:23:36.590" v="72" actId="20577"/>
        <pc:sldMkLst>
          <pc:docMk/>
          <pc:sldMk cId="1981231602" sldId="275"/>
        </pc:sldMkLst>
        <pc:spChg chg="mod">
          <ac:chgData name="Ayushi Gupta" userId="02b9627b939bb73b" providerId="Windows Live" clId="Web-{4C93CC0F-B841-238D-9DC8-0F7167A1C368}" dt="2025-12-02T23:23:36.590" v="72" actId="20577"/>
          <ac:spMkLst>
            <pc:docMk/>
            <pc:sldMk cId="1981231602" sldId="275"/>
            <ac:spMk id="4" creationId="{88570267-3C68-14FA-5E88-F102CB5FA291}"/>
          </ac:spMkLst>
        </pc:spChg>
      </pc:sldChg>
      <pc:sldChg chg="addSp delSp modSp">
        <pc:chgData name="Ayushi Gupta" userId="02b9627b939bb73b" providerId="Windows Live" clId="Web-{4C93CC0F-B841-238D-9DC8-0F7167A1C368}" dt="2025-12-02T22:54:41.057" v="38"/>
        <pc:sldMkLst>
          <pc:docMk/>
          <pc:sldMk cId="1038561700" sldId="277"/>
        </pc:sldMkLst>
        <pc:spChg chg="mod">
          <ac:chgData name="Ayushi Gupta" userId="02b9627b939bb73b" providerId="Windows Live" clId="Web-{4C93CC0F-B841-238D-9DC8-0F7167A1C368}" dt="2025-12-02T22:54:41.057" v="38"/>
          <ac:spMkLst>
            <pc:docMk/>
            <pc:sldMk cId="1038561700" sldId="277"/>
            <ac:spMk id="2" creationId="{B060104D-7D7A-3939-60A8-D73FD56DFE03}"/>
          </ac:spMkLst>
        </pc:spChg>
        <pc:spChg chg="mod">
          <ac:chgData name="Ayushi Gupta" userId="02b9627b939bb73b" providerId="Windows Live" clId="Web-{4C93CC0F-B841-238D-9DC8-0F7167A1C368}" dt="2025-12-02T22:53:31.728" v="19"/>
          <ac:spMkLst>
            <pc:docMk/>
            <pc:sldMk cId="1038561700" sldId="277"/>
            <ac:spMk id="4" creationId="{C3C43022-69E6-2005-FB37-4FD61E4A39E3}"/>
          </ac:spMkLst>
        </pc:spChg>
        <pc:spChg chg="del">
          <ac:chgData name="Ayushi Gupta" userId="02b9627b939bb73b" providerId="Windows Live" clId="Web-{4C93CC0F-B841-238D-9DC8-0F7167A1C368}" dt="2025-12-02T22:53:31.728" v="19"/>
          <ac:spMkLst>
            <pc:docMk/>
            <pc:sldMk cId="1038561700" sldId="277"/>
            <ac:spMk id="20" creationId="{2B97F24A-32CE-4C1C-A50D-3016B394DCFB}"/>
          </ac:spMkLst>
        </pc:spChg>
        <pc:spChg chg="del">
          <ac:chgData name="Ayushi Gupta" userId="02b9627b939bb73b" providerId="Windows Live" clId="Web-{4C93CC0F-B841-238D-9DC8-0F7167A1C368}" dt="2025-12-02T22:53:31.728" v="19"/>
          <ac:spMkLst>
            <pc:docMk/>
            <pc:sldMk cId="1038561700" sldId="277"/>
            <ac:spMk id="21" creationId="{CD8B4F24-440B-49E9-B85D-733523DC064B}"/>
          </ac:spMkLst>
        </pc:spChg>
        <pc:spChg chg="add">
          <ac:chgData name="Ayushi Gupta" userId="02b9627b939bb73b" providerId="Windows Live" clId="Web-{4C93CC0F-B841-238D-9DC8-0F7167A1C368}" dt="2025-12-02T22:53:31.728" v="19"/>
          <ac:spMkLst>
            <pc:docMk/>
            <pc:sldMk cId="1038561700" sldId="277"/>
            <ac:spMk id="26" creationId="{100EDD19-6802-4EC3-95CE-CFFAB042CFD6}"/>
          </ac:spMkLst>
        </pc:spChg>
        <pc:spChg chg="add">
          <ac:chgData name="Ayushi Gupta" userId="02b9627b939bb73b" providerId="Windows Live" clId="Web-{4C93CC0F-B841-238D-9DC8-0F7167A1C368}" dt="2025-12-02T22:53:31.728" v="19"/>
          <ac:spMkLst>
            <pc:docMk/>
            <pc:sldMk cId="1038561700" sldId="277"/>
            <ac:spMk id="28" creationId="{DB17E863-922E-4C26-BD64-E8FD41D28661}"/>
          </ac:spMkLst>
        </pc:spChg>
        <pc:picChg chg="del">
          <ac:chgData name="Ayushi Gupta" userId="02b9627b939bb73b" providerId="Windows Live" clId="Web-{4C93CC0F-B841-238D-9DC8-0F7167A1C368}" dt="2025-12-02T22:53:24.838" v="18"/>
          <ac:picMkLst>
            <pc:docMk/>
            <pc:sldMk cId="1038561700" sldId="277"/>
            <ac:picMk id="3" creationId="{C2BEACBF-0730-9CEC-19AB-EA74563BD44D}"/>
          </ac:picMkLst>
        </pc:picChg>
      </pc:sldChg>
      <pc:sldChg chg="addSp modSp">
        <pc:chgData name="Ayushi Gupta" userId="02b9627b939bb73b" providerId="Windows Live" clId="Web-{4C93CC0F-B841-238D-9DC8-0F7167A1C368}" dt="2025-12-02T22:54:15.666" v="36" actId="14100"/>
        <pc:sldMkLst>
          <pc:docMk/>
          <pc:sldMk cId="2944499362" sldId="279"/>
        </pc:sldMkLst>
        <pc:spChg chg="mod">
          <ac:chgData name="Ayushi Gupta" userId="02b9627b939bb73b" providerId="Windows Live" clId="Web-{4C93CC0F-B841-238D-9DC8-0F7167A1C368}" dt="2025-12-02T22:53:40.760" v="21" actId="14100"/>
          <ac:spMkLst>
            <pc:docMk/>
            <pc:sldMk cId="2944499362" sldId="279"/>
            <ac:spMk id="8" creationId="{F2B94D82-3538-838B-70AE-9162EC5BAE5F}"/>
          </ac:spMkLst>
        </pc:spChg>
        <pc:picChg chg="add mod">
          <ac:chgData name="Ayushi Gupta" userId="02b9627b939bb73b" providerId="Windows Live" clId="Web-{4C93CC0F-B841-238D-9DC8-0F7167A1C368}" dt="2025-12-02T22:54:15.666" v="36" actId="14100"/>
          <ac:picMkLst>
            <pc:docMk/>
            <pc:sldMk cId="2944499362" sldId="279"/>
            <ac:picMk id="3" creationId="{C9C8D335-4736-2B22-D697-48F0D871D13F}"/>
          </ac:picMkLst>
        </pc:picChg>
        <pc:picChg chg="mod">
          <ac:chgData name="Ayushi Gupta" userId="02b9627b939bb73b" providerId="Windows Live" clId="Web-{4C93CC0F-B841-238D-9DC8-0F7167A1C368}" dt="2025-12-02T22:53:52.729" v="27" actId="1076"/>
          <ac:picMkLst>
            <pc:docMk/>
            <pc:sldMk cId="2944499362" sldId="279"/>
            <ac:picMk id="4" creationId="{5E91F923-553C-F375-6E58-5BDFAEEF7B32}"/>
          </ac:picMkLst>
        </pc:picChg>
        <pc:picChg chg="mod">
          <ac:chgData name="Ayushi Gupta" userId="02b9627b939bb73b" providerId="Windows Live" clId="Web-{4C93CC0F-B841-238D-9DC8-0F7167A1C368}" dt="2025-12-02T22:54:03.307" v="32" actId="14100"/>
          <ac:picMkLst>
            <pc:docMk/>
            <pc:sldMk cId="2944499362" sldId="279"/>
            <ac:picMk id="7" creationId="{EC1BA160-0F75-67B1-A9B6-B7666D839372}"/>
          </ac:picMkLst>
        </pc:picChg>
      </pc:sldChg>
    </pc:docChg>
  </pc:docChgLst>
  <pc:docChgLst>
    <pc:chgData name="Ayushi Gupta" userId="02b9627b939bb73b" providerId="Windows Live" clId="Web-{87899054-6970-A854-3559-30F979FB6FB4}"/>
    <pc:docChg chg="addSld modSld sldOrd">
      <pc:chgData name="Ayushi Gupta" userId="02b9627b939bb73b" providerId="Windows Live" clId="Web-{87899054-6970-A854-3559-30F979FB6FB4}" dt="2025-12-03T03:28:16.314" v="77" actId="1076"/>
      <pc:docMkLst>
        <pc:docMk/>
      </pc:docMkLst>
      <pc:sldChg chg="modSp">
        <pc:chgData name="Ayushi Gupta" userId="02b9627b939bb73b" providerId="Windows Live" clId="Web-{87899054-6970-A854-3559-30F979FB6FB4}" dt="2025-12-03T03:27:16.814" v="58" actId="20577"/>
        <pc:sldMkLst>
          <pc:docMk/>
          <pc:sldMk cId="0" sldId="257"/>
        </pc:sldMkLst>
        <pc:spChg chg="mod">
          <ac:chgData name="Ayushi Gupta" userId="02b9627b939bb73b" providerId="Windows Live" clId="Web-{87899054-6970-A854-3559-30F979FB6FB4}" dt="2025-12-03T03:27:16.814" v="58" actId="20577"/>
          <ac:spMkLst>
            <pc:docMk/>
            <pc:sldMk cId="0" sldId="257"/>
            <ac:spMk id="4" creationId="{00000000-0000-0000-0000-000000000000}"/>
          </ac:spMkLst>
        </pc:spChg>
      </pc:sldChg>
      <pc:sldChg chg="modSp">
        <pc:chgData name="Ayushi Gupta" userId="02b9627b939bb73b" providerId="Windows Live" clId="Web-{87899054-6970-A854-3559-30F979FB6FB4}" dt="2025-12-03T03:23:41.153" v="6" actId="20577"/>
        <pc:sldMkLst>
          <pc:docMk/>
          <pc:sldMk cId="1038561700" sldId="277"/>
        </pc:sldMkLst>
        <pc:spChg chg="mod">
          <ac:chgData name="Ayushi Gupta" userId="02b9627b939bb73b" providerId="Windows Live" clId="Web-{87899054-6970-A854-3559-30F979FB6FB4}" dt="2025-12-03T03:23:41.153" v="6" actId="20577"/>
          <ac:spMkLst>
            <pc:docMk/>
            <pc:sldMk cId="1038561700" sldId="277"/>
            <ac:spMk id="4" creationId="{C3C43022-69E6-2005-FB37-4FD61E4A39E3}"/>
          </ac:spMkLst>
        </pc:spChg>
      </pc:sldChg>
      <pc:sldChg chg="modSp">
        <pc:chgData name="Ayushi Gupta" userId="02b9627b939bb73b" providerId="Windows Live" clId="Web-{87899054-6970-A854-3559-30F979FB6FB4}" dt="2025-12-03T03:15:48.278" v="1" actId="20577"/>
        <pc:sldMkLst>
          <pc:docMk/>
          <pc:sldMk cId="3675917480" sldId="290"/>
        </pc:sldMkLst>
        <pc:spChg chg="mod">
          <ac:chgData name="Ayushi Gupta" userId="02b9627b939bb73b" providerId="Windows Live" clId="Web-{87899054-6970-A854-3559-30F979FB6FB4}" dt="2025-12-03T03:15:48.278" v="1" actId="20577"/>
          <ac:spMkLst>
            <pc:docMk/>
            <pc:sldMk cId="3675917480" sldId="290"/>
            <ac:spMk id="4" creationId="{836B4B51-0411-5674-8D58-CFD5EADD7BE4}"/>
          </ac:spMkLst>
        </pc:spChg>
      </pc:sldChg>
      <pc:sldChg chg="delSp modSp add ord replId">
        <pc:chgData name="Ayushi Gupta" userId="02b9627b939bb73b" providerId="Windows Live" clId="Web-{87899054-6970-A854-3559-30F979FB6FB4}" dt="2025-12-03T03:28:16.314" v="77" actId="1076"/>
        <pc:sldMkLst>
          <pc:docMk/>
          <pc:sldMk cId="2671731545" sldId="299"/>
        </pc:sldMkLst>
        <pc:spChg chg="mod">
          <ac:chgData name="Ayushi Gupta" userId="02b9627b939bb73b" providerId="Windows Live" clId="Web-{87899054-6970-A854-3559-30F979FB6FB4}" dt="2025-12-03T03:28:16.314" v="77" actId="1076"/>
          <ac:spMkLst>
            <pc:docMk/>
            <pc:sldMk cId="2671731545" sldId="299"/>
            <ac:spMk id="2" creationId="{FA0A59E1-D2DC-3A98-A6AE-8E962A3A3935}"/>
          </ac:spMkLst>
        </pc:spChg>
        <pc:spChg chg="del">
          <ac:chgData name="Ayushi Gupta" userId="02b9627b939bb73b" providerId="Windows Live" clId="Web-{87899054-6970-A854-3559-30F979FB6FB4}" dt="2025-12-03T03:28:06.158" v="68"/>
          <ac:spMkLst>
            <pc:docMk/>
            <pc:sldMk cId="2671731545" sldId="299"/>
            <ac:spMk id="5" creationId="{DBF88DF2-2C81-71B7-5134-38C9D07EF2D6}"/>
          </ac:spMkLst>
        </pc:spChg>
        <pc:spChg chg="del">
          <ac:chgData name="Ayushi Gupta" userId="02b9627b939bb73b" providerId="Windows Live" clId="Web-{87899054-6970-A854-3559-30F979FB6FB4}" dt="2025-12-03T03:28:06.158" v="67"/>
          <ac:spMkLst>
            <pc:docMk/>
            <pc:sldMk cId="2671731545" sldId="299"/>
            <ac:spMk id="7" creationId="{7123E109-8C50-7901-9AD1-7F62AA350BF6}"/>
          </ac:spMkLst>
        </pc:spChg>
        <pc:spChg chg="del">
          <ac:chgData name="Ayushi Gupta" userId="02b9627b939bb73b" providerId="Windows Live" clId="Web-{87899054-6970-A854-3559-30F979FB6FB4}" dt="2025-12-03T03:28:06.158" v="66"/>
          <ac:spMkLst>
            <pc:docMk/>
            <pc:sldMk cId="2671731545" sldId="299"/>
            <ac:spMk id="9" creationId="{258F4572-E34F-A869-1BC8-DFFD164F8D3E}"/>
          </ac:spMkLst>
        </pc:spChg>
        <pc:spChg chg="del">
          <ac:chgData name="Ayushi Gupta" userId="02b9627b939bb73b" providerId="Windows Live" clId="Web-{87899054-6970-A854-3559-30F979FB6FB4}" dt="2025-12-03T03:28:06.158" v="65"/>
          <ac:spMkLst>
            <pc:docMk/>
            <pc:sldMk cId="2671731545" sldId="299"/>
            <ac:spMk id="11" creationId="{565BEE64-9962-03D6-4EEB-55AEAF70B4E2}"/>
          </ac:spMkLst>
        </pc:spChg>
        <pc:picChg chg="del">
          <ac:chgData name="Ayushi Gupta" userId="02b9627b939bb73b" providerId="Windows Live" clId="Web-{87899054-6970-A854-3559-30F979FB6FB4}" dt="2025-12-03T03:28:06.158" v="62"/>
          <ac:picMkLst>
            <pc:docMk/>
            <pc:sldMk cId="2671731545" sldId="299"/>
            <ac:picMk id="3" creationId="{5ED67A1B-9291-0197-7066-B140CCE16C29}"/>
          </ac:picMkLst>
        </pc:picChg>
        <pc:picChg chg="del">
          <ac:chgData name="Ayushi Gupta" userId="02b9627b939bb73b" providerId="Windows Live" clId="Web-{87899054-6970-A854-3559-30F979FB6FB4}" dt="2025-12-03T03:28:06.158" v="61"/>
          <ac:picMkLst>
            <pc:docMk/>
            <pc:sldMk cId="2671731545" sldId="299"/>
            <ac:picMk id="10" creationId="{E1BB83E4-7550-9A2A-79AB-B3A54D0A1C5A}"/>
          </ac:picMkLst>
        </pc:picChg>
        <pc:picChg chg="del">
          <ac:chgData name="Ayushi Gupta" userId="02b9627b939bb73b" providerId="Windows Live" clId="Web-{87899054-6970-A854-3559-30F979FB6FB4}" dt="2025-12-03T03:28:06.158" v="64"/>
          <ac:picMkLst>
            <pc:docMk/>
            <pc:sldMk cId="2671731545" sldId="299"/>
            <ac:picMk id="13" creationId="{E4649171-62EB-F7C6-6520-344E170A4009}"/>
          </ac:picMkLst>
        </pc:picChg>
        <pc:picChg chg="del">
          <ac:chgData name="Ayushi Gupta" userId="02b9627b939bb73b" providerId="Windows Live" clId="Web-{87899054-6970-A854-3559-30F979FB6FB4}" dt="2025-12-03T03:28:06.158" v="63"/>
          <ac:picMkLst>
            <pc:docMk/>
            <pc:sldMk cId="2671731545" sldId="299"/>
            <ac:picMk id="15" creationId="{8C4E4B57-BF45-3E5F-406B-D44518768D12}"/>
          </ac:picMkLst>
        </pc:picChg>
      </pc:sldChg>
    </pc:docChg>
  </pc:docChgLst>
  <pc:docChgLst>
    <pc:chgData name="Shravani Sawant" userId="d4ff99d84b5d7c0a" providerId="Windows Live" clId="Web-{FE09B64E-2DA1-361B-9E60-B5C8F8F00C13}"/>
    <pc:docChg chg="addSld modSld sldOrd">
      <pc:chgData name="Shravani Sawant" userId="d4ff99d84b5d7c0a" providerId="Windows Live" clId="Web-{FE09B64E-2DA1-361B-9E60-B5C8F8F00C13}" dt="2025-12-02T23:50:36.736" v="40" actId="1076"/>
      <pc:docMkLst>
        <pc:docMk/>
      </pc:docMkLst>
      <pc:sldChg chg="addSp delSp modSp">
        <pc:chgData name="Shravani Sawant" userId="d4ff99d84b5d7c0a" providerId="Windows Live" clId="Web-{FE09B64E-2DA1-361B-9E60-B5C8F8F00C13}" dt="2025-12-02T23:50:36.736" v="40" actId="1076"/>
        <pc:sldMkLst>
          <pc:docMk/>
          <pc:sldMk cId="2545504564" sldId="292"/>
        </pc:sldMkLst>
        <pc:spChg chg="mod">
          <ac:chgData name="Shravani Sawant" userId="d4ff99d84b5d7c0a" providerId="Windows Live" clId="Web-{FE09B64E-2DA1-361B-9E60-B5C8F8F00C13}" dt="2025-12-02T23:49:14.532" v="16" actId="20577"/>
          <ac:spMkLst>
            <pc:docMk/>
            <pc:sldMk cId="2545504564" sldId="292"/>
            <ac:spMk id="4" creationId="{1945E45F-5AA3-7838-2BEF-0F376CFC2790}"/>
          </ac:spMkLst>
        </pc:spChg>
        <pc:picChg chg="del">
          <ac:chgData name="Shravani Sawant" userId="d4ff99d84b5d7c0a" providerId="Windows Live" clId="Web-{FE09B64E-2DA1-361B-9E60-B5C8F8F00C13}" dt="2025-12-02T23:49:15.094" v="17"/>
          <ac:picMkLst>
            <pc:docMk/>
            <pc:sldMk cId="2545504564" sldId="292"/>
            <ac:picMk id="3" creationId="{26AA9B52-5676-4C75-BDC3-D9DD835849B8}"/>
          </ac:picMkLst>
        </pc:picChg>
        <pc:picChg chg="mod">
          <ac:chgData name="Shravani Sawant" userId="d4ff99d84b5d7c0a" providerId="Windows Live" clId="Web-{FE09B64E-2DA1-361B-9E60-B5C8F8F00C13}" dt="2025-12-02T23:50:33.377" v="38" actId="1076"/>
          <ac:picMkLst>
            <pc:docMk/>
            <pc:sldMk cId="2545504564" sldId="292"/>
            <ac:picMk id="5" creationId="{C0BF3910-BFF6-05CB-A040-5C495EF9A988}"/>
          </ac:picMkLst>
        </pc:picChg>
        <pc:picChg chg="mod">
          <ac:chgData name="Shravani Sawant" userId="d4ff99d84b5d7c0a" providerId="Windows Live" clId="Web-{FE09B64E-2DA1-361B-9E60-B5C8F8F00C13}" dt="2025-12-02T23:50:35.096" v="39" actId="1076"/>
          <ac:picMkLst>
            <pc:docMk/>
            <pc:sldMk cId="2545504564" sldId="292"/>
            <ac:picMk id="6" creationId="{95B44A1B-5DEF-B1CA-83BC-7C25AA3D910D}"/>
          </ac:picMkLst>
        </pc:picChg>
        <pc:picChg chg="add mod">
          <ac:chgData name="Shravani Sawant" userId="d4ff99d84b5d7c0a" providerId="Windows Live" clId="Web-{FE09B64E-2DA1-361B-9E60-B5C8F8F00C13}" dt="2025-12-02T23:50:36.736" v="40" actId="1076"/>
          <ac:picMkLst>
            <pc:docMk/>
            <pc:sldMk cId="2545504564" sldId="292"/>
            <ac:picMk id="7" creationId="{E397DAC6-4CEF-52A8-8129-5D4C6EAC2E39}"/>
          </ac:picMkLst>
        </pc:picChg>
      </pc:sldChg>
      <pc:sldChg chg="addSp delSp modSp new ord">
        <pc:chgData name="Shravani Sawant" userId="d4ff99d84b5d7c0a" providerId="Windows Live" clId="Web-{FE09B64E-2DA1-361B-9E60-B5C8F8F00C13}" dt="2025-12-02T23:48:40.844" v="7"/>
        <pc:sldMkLst>
          <pc:docMk/>
          <pc:sldMk cId="3764853202" sldId="298"/>
        </pc:sldMkLst>
        <pc:spChg chg="del">
          <ac:chgData name="Shravani Sawant" userId="d4ff99d84b5d7c0a" providerId="Windows Live" clId="Web-{FE09B64E-2DA1-361B-9E60-B5C8F8F00C13}" dt="2025-12-02T23:16:54.269" v="3"/>
          <ac:spMkLst>
            <pc:docMk/>
            <pc:sldMk cId="3764853202" sldId="298"/>
            <ac:spMk id="2" creationId="{80A84B7D-13C7-8AE3-AD20-3BAD97CD22E1}"/>
          </ac:spMkLst>
        </pc:spChg>
        <pc:spChg chg="del mod">
          <ac:chgData name="Shravani Sawant" userId="d4ff99d84b5d7c0a" providerId="Windows Live" clId="Web-{FE09B64E-2DA1-361B-9E60-B5C8F8F00C13}" dt="2025-12-02T23:16:50.425" v="2"/>
          <ac:spMkLst>
            <pc:docMk/>
            <pc:sldMk cId="3764853202" sldId="298"/>
            <ac:spMk id="3" creationId="{B1DC6D6C-7152-E61A-FE57-1C3C023B5358}"/>
          </ac:spMkLst>
        </pc:spChg>
        <pc:picChg chg="add mod">
          <ac:chgData name="Shravani Sawant" userId="d4ff99d84b5d7c0a" providerId="Windows Live" clId="Web-{FE09B64E-2DA1-361B-9E60-B5C8F8F00C13}" dt="2025-12-02T23:48:40.844" v="7"/>
          <ac:picMkLst>
            <pc:docMk/>
            <pc:sldMk cId="3764853202" sldId="298"/>
            <ac:picMk id="2" creationId="{E35D67D5-D3E9-EE5A-662E-404BC4781B48}"/>
          </ac:picMkLst>
        </pc:picChg>
        <pc:picChg chg="add del mod">
          <ac:chgData name="Shravani Sawant" userId="d4ff99d84b5d7c0a" providerId="Windows Live" clId="Web-{FE09B64E-2DA1-361B-9E60-B5C8F8F00C13}" dt="2025-12-02T23:48:39.734" v="6"/>
          <ac:picMkLst>
            <pc:docMk/>
            <pc:sldMk cId="3764853202" sldId="298"/>
            <ac:picMk id="4" creationId="{405B019E-0367-9AFF-58C1-CE8AC716A9D2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22:05:37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22:05:3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22:05:38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22:05:39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22:05:40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22:05:47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0:11:07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fedesoriano/company-bankruptcy-predictio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29.png"/><Relationship Id="rId7" Type="http://schemas.openxmlformats.org/officeDocument/2006/relationships/customXml" Target="../ink/ink5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31.png"/><Relationship Id="rId5" Type="http://schemas.openxmlformats.org/officeDocument/2006/relationships/customXml" Target="../ink/ink3.xml"/><Relationship Id="rId10" Type="http://schemas.openxmlformats.org/officeDocument/2006/relationships/image" Target="../media/image30.png"/><Relationship Id="rId4" Type="http://schemas.openxmlformats.org/officeDocument/2006/relationships/customXml" Target="../ink/ink2.xml"/><Relationship Id="rId9" Type="http://schemas.openxmlformats.org/officeDocument/2006/relationships/customXml" Target="../ink/ink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5542" y="555086"/>
            <a:ext cx="6198485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en-US" sz="3600" dirty="0"/>
              <a:t>Corporate Bankruptcy</a:t>
            </a:r>
            <a:r>
              <a:rPr lang="en-US" sz="3600" b="1" dirty="0"/>
              <a:t> Prediction</a:t>
            </a:r>
            <a:endParaRPr lang="en-US" sz="3600" b="1" dirty="0">
              <a:ea typeface="Calibri"/>
              <a:cs typeface="Calibri"/>
            </a:endParaRPr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en-US" sz="3600" b="1" dirty="0"/>
              <a:t> Using Machine Learning</a:t>
            </a:r>
            <a:endParaRPr lang="en-US" sz="3600" b="1" dirty="0">
              <a:ea typeface="Calibri"/>
              <a:cs typeface="Calibri"/>
            </a:endParaRPr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en-US" sz="3600" b="1" dirty="0"/>
              <a:t>Classification Models</a:t>
            </a:r>
            <a:endParaRPr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1188720" y="51206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Ayushi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51206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Khushi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51206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Pranay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51206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Shravani</a:t>
            </a:r>
          </a:p>
        </p:txBody>
      </p:sp>
      <p:pic>
        <p:nvPicPr>
          <p:cNvPr id="13" name="Picture 12" descr="A person taking a selfie&#10;&#10;AI-generated content may be incorrect.">
            <a:extLst>
              <a:ext uri="{FF2B5EF4-FFF2-40B4-BE49-F238E27FC236}">
                <a16:creationId xmlns:a16="http://schemas.microsoft.com/office/drawing/2014/main" id="{910EC393-2311-323E-64FA-F6850C63F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596" y="3310700"/>
            <a:ext cx="1422471" cy="1704006"/>
          </a:xfrm>
          <a:prstGeom prst="rect">
            <a:avLst/>
          </a:prstGeom>
        </p:spPr>
      </p:pic>
      <p:pic>
        <p:nvPicPr>
          <p:cNvPr id="15" name="Picture 14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A37B7A3E-C048-B990-32B5-B06039338B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39"/>
          <a:stretch>
            <a:fillRect/>
          </a:stretch>
        </p:blipFill>
        <p:spPr>
          <a:xfrm>
            <a:off x="6654443" y="3310701"/>
            <a:ext cx="1423058" cy="1704006"/>
          </a:xfrm>
          <a:prstGeom prst="rect">
            <a:avLst/>
          </a:prstGeom>
        </p:spPr>
      </p:pic>
      <p:pic>
        <p:nvPicPr>
          <p:cNvPr id="3" name="Picture 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C0A2D5F6-432D-70A4-5107-84CBC94C9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905" y="3310700"/>
            <a:ext cx="1404320" cy="1704006"/>
          </a:xfrm>
          <a:prstGeom prst="rect">
            <a:avLst/>
          </a:prstGeom>
        </p:spPr>
      </p:pic>
      <p:pic>
        <p:nvPicPr>
          <p:cNvPr id="10" name="Picture 9" descr="A person sitting on a bench with a city in the background&#10;&#10;AI-generated content may be incorrect.">
            <a:extLst>
              <a:ext uri="{FF2B5EF4-FFF2-40B4-BE49-F238E27FC236}">
                <a16:creationId xmlns:a16="http://schemas.microsoft.com/office/drawing/2014/main" id="{E548A18E-73EA-3596-6064-4FD6DA6333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729" t="37102" r="24493" b="32057"/>
          <a:stretch>
            <a:fillRect/>
          </a:stretch>
        </p:blipFill>
        <p:spPr>
          <a:xfrm>
            <a:off x="2867397" y="3310700"/>
            <a:ext cx="1460533" cy="17040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6D016-A55B-D84A-4143-2B363C40A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1A3CE80-4878-D0EF-ED5A-E6C2158E9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45789A-EB55-68FC-0924-3BD18A278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/>
              <a:t>Problem Statement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5AE57068-DA6E-82A3-1598-859321E5E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6B4B51-0411-5674-8D58-CFD5EADD7BE4}"/>
              </a:ext>
            </a:extLst>
          </p:cNvPr>
          <p:cNvSpPr txBox="1"/>
          <p:nvPr/>
        </p:nvSpPr>
        <p:spPr>
          <a:xfrm>
            <a:off x="636963" y="2162140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2000">
                <a:ea typeface="Calibri"/>
                <a:cs typeface="Calibri"/>
              </a:rPr>
              <a:t>“Can machine learning </a:t>
            </a:r>
            <a:r>
              <a:rPr lang="en-US" sz="2000"/>
              <a:t>predict a company’s bankruptcy early using only its financial ratios?”</a:t>
            </a:r>
            <a:endParaRPr lang="en-US" sz="2000">
              <a:ea typeface="Calibri"/>
              <a:cs typeface="Calibri"/>
            </a:endParaRPr>
          </a:p>
          <a:p>
            <a:pPr defTabSz="914400">
              <a:buFont typeface="Arial" panose="020B0604020202020204" pitchFamily="34" charset="0"/>
              <a:buChar char="•"/>
              <a:defRPr sz="2400" b="1">
                <a:solidFill>
                  <a:srgbClr val="764BA2"/>
                </a:solidFill>
              </a:defRPr>
            </a:pPr>
            <a:endParaRPr lang="en-US" sz="2000">
              <a:solidFill>
                <a:srgbClr val="000000"/>
              </a:solidFill>
            </a:endParaRPr>
          </a:p>
          <a:p>
            <a:pPr defTabSz="914400">
              <a:defRPr sz="2400" b="1">
                <a:solidFill>
                  <a:srgbClr val="764BA2"/>
                </a:solidFill>
              </a:defRPr>
            </a:pPr>
            <a:r>
              <a:rPr lang="en-US">
                <a:solidFill>
                  <a:srgbClr val="7030A0"/>
                </a:solidFill>
              </a:rPr>
              <a:t>Why This Problem Matters</a:t>
            </a:r>
            <a:endParaRPr lang="en-US">
              <a:solidFill>
                <a:srgbClr val="7030A0"/>
              </a:solidFill>
              <a:ea typeface="Calibri"/>
              <a:cs typeface="Calibri"/>
            </a:endParaRPr>
          </a:p>
          <a:p>
            <a:pPr defTabSz="914400">
              <a:defRPr sz="1800"/>
            </a:pPr>
            <a:endParaRPr lang="en-US" sz="2400" b="1"/>
          </a:p>
          <a:p>
            <a:pPr defTabSz="914400">
              <a:buFont typeface="Arial" panose="020B0604020202020204" pitchFamily="34" charset="0"/>
              <a:buChar char="•"/>
              <a:defRPr sz="1800"/>
            </a:pPr>
            <a:r>
              <a:rPr lang="en-US"/>
              <a:t>Bankruptcy causes major financial loss for investors, banks, and stakeholders</a:t>
            </a:r>
            <a:endParaRPr lang="en-US">
              <a:ea typeface="Calibri"/>
              <a:cs typeface="Calibri"/>
            </a:endParaRPr>
          </a:p>
          <a:p>
            <a:pPr defTabSz="914400">
              <a:defRPr sz="1800"/>
            </a:pPr>
            <a:endParaRPr lang="en-US">
              <a:ea typeface="Calibri"/>
              <a:cs typeface="Calibri"/>
            </a:endParaRPr>
          </a:p>
          <a:p>
            <a:pPr defTabSz="914400">
              <a:buFont typeface="Arial" panose="020B0604020202020204" pitchFamily="34" charset="0"/>
              <a:buChar char="•"/>
              <a:defRPr sz="1800"/>
            </a:pPr>
            <a:r>
              <a:rPr lang="en-US">
                <a:ea typeface="Calibri"/>
                <a:cs typeface="Calibri"/>
              </a:rPr>
              <a:t>Traditional financial analysis often detects risk too late</a:t>
            </a:r>
          </a:p>
          <a:p>
            <a:pPr defTabSz="914400">
              <a:defRPr sz="1800"/>
            </a:pPr>
            <a:endParaRPr lang="en-US">
              <a:ea typeface="Calibri"/>
              <a:cs typeface="Calibri"/>
            </a:endParaRPr>
          </a:p>
          <a:p>
            <a:pPr defTabSz="914400">
              <a:defRPr sz="1800"/>
            </a:pPr>
            <a:r>
              <a:rPr lang="en-US">
                <a:cs typeface="Arial"/>
              </a:rPr>
              <a:t>•</a:t>
            </a:r>
            <a:r>
              <a:rPr lang="en-US">
                <a:ea typeface="Calibri"/>
                <a:cs typeface="Calibri"/>
              </a:rPr>
              <a:t>Early prediction enables preventive action, risk management, and credit control</a:t>
            </a:r>
          </a:p>
          <a:p>
            <a:pPr defTabSz="914400">
              <a:buFont typeface="Arial" panose="020B0604020202020204" pitchFamily="34" charset="0"/>
              <a:buChar char="•"/>
              <a:defRPr sz="1800"/>
            </a:pPr>
            <a:endParaRPr lang="en-US">
              <a:ea typeface="Calibri"/>
              <a:cs typeface="Calibri"/>
            </a:endParaRPr>
          </a:p>
          <a:p>
            <a:pPr defTabSz="914400">
              <a:buFont typeface="Arial" panose="020B0604020202020204" pitchFamily="34" charset="0"/>
              <a:buChar char="•"/>
              <a:defRPr sz="2400" b="1">
                <a:solidFill>
                  <a:srgbClr val="764BA2"/>
                </a:solidFill>
              </a:defRPr>
            </a:pP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defTabSz="914400">
              <a:buFont typeface="Arial" panose="020B0604020202020204" pitchFamily="34" charset="0"/>
              <a:buChar char="•"/>
              <a:defRPr sz="1800"/>
            </a:pPr>
            <a:endParaRPr lang="en-US" sz="2400" b="1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endParaRPr lang="en-US" sz="1900">
              <a:ea typeface="Calibri"/>
              <a:cs typeface="Calibri"/>
            </a:endParaRPr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endParaRPr lang="en-US" sz="19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591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 dirty="0">
                <a:solidFill>
                  <a:srgbClr val="667EEA"/>
                </a:solidFill>
              </a:rPr>
              <a:t>Project Overview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/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900" dirty="0"/>
              <a:t>Objective</a:t>
            </a:r>
            <a:endParaRPr lang="en-US" sz="1900" b="1" dirty="0">
              <a:solidFill>
                <a:srgbClr val="764BA2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1800"/>
            </a:pPr>
            <a:r>
              <a:rPr lang="en-US" sz="1900" dirty="0">
                <a:solidFill>
                  <a:srgbClr val="000000"/>
                </a:solidFill>
                <a:ea typeface="Calibri"/>
                <a:cs typeface="Calibri"/>
              </a:rPr>
              <a:t>Built a complete end-to-end ML workflow for bankruptcy prediction using financial indicators.</a:t>
            </a: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1800"/>
            </a:pPr>
            <a:endParaRPr lang="en-US" sz="1900" dirty="0">
              <a:ea typeface="+mn-lt"/>
              <a:cs typeface="+mn-lt"/>
            </a:endParaRP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900" dirty="0"/>
              <a:t>Workflow</a:t>
            </a:r>
            <a:endParaRPr lang="en-US" sz="1900" b="1" dirty="0">
              <a:solidFill>
                <a:srgbClr val="764BA2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1800"/>
            </a:pPr>
            <a:r>
              <a:rPr lang="en-US" sz="1900" dirty="0">
                <a:solidFill>
                  <a:srgbClr val="000000"/>
                </a:solidFill>
                <a:ea typeface="Calibri"/>
                <a:cs typeface="Calibri"/>
              </a:rPr>
              <a:t>Data</a:t>
            </a:r>
            <a:r>
              <a:rPr lang="en-US" sz="1900" dirty="0">
                <a:ea typeface="+mn-lt"/>
                <a:cs typeface="+mn-lt"/>
              </a:rPr>
              <a:t> Cleaning → EDA → SMOTE → Modeling → Evaluation</a:t>
            </a:r>
            <a:endParaRPr lang="en-US" sz="1900" b="1" dirty="0">
              <a:solidFill>
                <a:srgbClr val="764BA2"/>
              </a:solidFill>
              <a:ea typeface="+mn-lt"/>
              <a:cs typeface="+mn-lt"/>
            </a:endParaRP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endParaRPr lang="en-US" sz="1900" dirty="0">
              <a:solidFill>
                <a:srgbClr val="000000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900" dirty="0">
                <a:ea typeface="+mn-lt"/>
                <a:cs typeface="+mn-lt"/>
              </a:rPr>
              <a:t>Implemented and compared below machine learning models:</a:t>
            </a:r>
          </a:p>
          <a:p>
            <a:pPr lvl="1" indent="-342900" defTabSz="91440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/>
              <a:t>K-Nearest Neighbors (KNN)</a:t>
            </a:r>
            <a:endParaRPr lang="en-US" sz="1900" dirty="0">
              <a:ea typeface="Calibri"/>
              <a:cs typeface="Calibri"/>
            </a:endParaRPr>
          </a:p>
          <a:p>
            <a:pPr lvl="1" indent="-342900" defTabSz="91440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/>
              <a:t>Artificial Neural Network (ANN)</a:t>
            </a:r>
            <a:endParaRPr lang="en-US" sz="1900" dirty="0">
              <a:ea typeface="Calibri"/>
              <a:cs typeface="Calibri"/>
            </a:endParaRPr>
          </a:p>
          <a:p>
            <a:pPr lvl="1" indent="-342900" defTabSz="91440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>
                <a:ea typeface="+mn-lt"/>
                <a:cs typeface="+mn-lt"/>
              </a:rPr>
              <a:t>Support Vector Machine (</a:t>
            </a:r>
            <a:r>
              <a:rPr lang="en-US" sz="1900" dirty="0" err="1">
                <a:ea typeface="+mn-lt"/>
                <a:cs typeface="+mn-lt"/>
              </a:rPr>
              <a:t>SVM</a:t>
            </a:r>
            <a:r>
              <a:rPr lang="en-US" sz="1900" dirty="0">
                <a:ea typeface="+mn-lt"/>
                <a:cs typeface="+mn-lt"/>
              </a:rPr>
              <a:t>)</a:t>
            </a:r>
            <a:endParaRPr lang="en-US" sz="1900" dirty="0">
              <a:ea typeface="Calibri"/>
              <a:cs typeface="Calibri"/>
            </a:endParaRPr>
          </a:p>
          <a:p>
            <a:pPr lvl="1" indent="-342900" defTabSz="91440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 err="1">
                <a:ea typeface="Calibri"/>
                <a:cs typeface="Calibri"/>
              </a:rPr>
              <a:t>CatBoost</a:t>
            </a:r>
            <a:endParaRPr lang="en-US" sz="1900" dirty="0">
              <a:ea typeface="Calibri"/>
              <a:cs typeface="Calibri"/>
            </a:endParaRPr>
          </a:p>
          <a:p>
            <a:pPr lvl="1" indent="-342900" defTabSz="91440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 err="1">
                <a:ea typeface="Calibri"/>
                <a:cs typeface="Calibri"/>
              </a:rPr>
              <a:t>XGBoost</a:t>
            </a:r>
            <a:endParaRPr lang="en-US" sz="1900" dirty="0"/>
          </a:p>
          <a:p>
            <a:pPr lvl="1" indent="-342900" defTabSz="91440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/>
              <a:t>Naive Bayes</a:t>
            </a:r>
            <a:endParaRPr lang="en-US" sz="1900" dirty="0">
              <a:ea typeface="Calibri"/>
              <a:cs typeface="Calibri"/>
            </a:endParaRPr>
          </a:p>
          <a:p>
            <a:pPr lvl="1" indent="-342900" defTabSz="91440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 dirty="0"/>
              <a:t>Random Forest</a:t>
            </a:r>
            <a:endParaRPr lang="en-US" sz="1900" dirty="0">
              <a:ea typeface="Calibri"/>
              <a:cs typeface="Calibri"/>
            </a:endParaRPr>
          </a:p>
          <a:p>
            <a:pPr lvl="1" indent="-342900" defTabSz="91440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endParaRPr lang="en-US" sz="1900" dirty="0">
              <a:ea typeface="Calibri"/>
              <a:cs typeface="Calibri"/>
            </a:endParaRPr>
          </a:p>
          <a:p>
            <a:pPr lvl="1" indent="-342900" defTabSz="91440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endParaRPr lang="en-US" sz="1900" dirty="0">
              <a:ea typeface="Calibri"/>
              <a:cs typeface="Calibri"/>
            </a:endParaRPr>
          </a:p>
          <a:p>
            <a:pPr lvl="1" indent="-342900" defTabSz="914400">
              <a:buFont typeface="Arial" panose="020B0604020202020204" pitchFamily="34" charset="0"/>
              <a:buChar char="•"/>
              <a:defRPr sz="1800"/>
            </a:pPr>
            <a:endParaRPr lang="en-US" sz="19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>
                <a:solidFill>
                  <a:srgbClr val="667EEA"/>
                </a:solidFill>
              </a:rPr>
              <a:t>Data Understanding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/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900"/>
              <a:t>Dataset Source</a:t>
            </a:r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Kaggle - </a:t>
            </a:r>
            <a:r>
              <a:rPr lang="en-US" sz="1900">
                <a:hlinkClick r:id="rId2"/>
              </a:rPr>
              <a:t>https://www.kaggle.com/datasets/fedesoriano/company-bankruptcy-prediction</a:t>
            </a:r>
            <a:endParaRPr lang="en-US" sz="1900"/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endParaRPr lang="en-US" sz="1900">
              <a:solidFill>
                <a:srgbClr val="764BA2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900"/>
              <a:t>Dataset Statistics</a:t>
            </a:r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Total Companies: 6,807</a:t>
            </a:r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Financial Features: 95</a:t>
            </a:r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Target Variable: Bankrupt? (0/1)</a:t>
            </a: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900"/>
              <a:t>Key Feature Categories</a:t>
            </a:r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Debt Ratios: Debt ratio %, Borrowing dependency</a:t>
            </a:r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Profitability: ROA, Net Income to Assets</a:t>
            </a:r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Liquidity: Current ratio, Working capital</a:t>
            </a:r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Leverage: Liability to Equity, Asset turnover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3EF5B-1D8A-D239-F42A-B791D6AE6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AA3C8-0A67-B89F-8A8E-CEAAAFD2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>
                <a:solidFill>
                  <a:srgbClr val="667EEA"/>
                </a:solidFill>
              </a:rPr>
              <a:t>Data Cleaning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B81976-9E57-5BD0-AEAC-F2DEC7754A17}"/>
              </a:ext>
            </a:extLst>
          </p:cNvPr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1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/>
            </a:pPr>
            <a:r>
              <a:rPr lang="en-US" altLang="en-US" sz="1900"/>
              <a:t>Removed Index column</a:t>
            </a:r>
          </a:p>
          <a:p>
            <a:pPr marR="0" lvl="1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/>
            </a:pPr>
            <a:r>
              <a:rPr lang="en-US" altLang="en-US" sz="1900"/>
              <a:t>Dropped missing-value rows</a:t>
            </a:r>
          </a:p>
          <a:p>
            <a:pPr marR="0" lvl="1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/>
            </a:pPr>
            <a:r>
              <a:rPr lang="en-US" altLang="en-US" sz="1900"/>
              <a:t>Removed duplicates</a:t>
            </a:r>
          </a:p>
          <a:p>
            <a:pPr marR="0" lvl="1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/>
            </a:pPr>
            <a:r>
              <a:rPr lang="en-US" altLang="en-US" sz="1900"/>
              <a:t>Converted target to integer</a:t>
            </a:r>
          </a:p>
          <a:p>
            <a:pPr marR="0" lvl="1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/>
            </a:pPr>
            <a:r>
              <a:rPr lang="en-US" altLang="en-US" sz="1900"/>
              <a:t>Verified class imbalance</a:t>
            </a:r>
          </a:p>
        </p:txBody>
      </p:sp>
    </p:spTree>
    <p:extLst>
      <p:ext uri="{BB962C8B-B14F-4D97-AF65-F5344CB8AC3E}">
        <p14:creationId xmlns:p14="http://schemas.microsoft.com/office/powerpoint/2010/main" val="3523272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/>
              <a:t>Target Distribution</a:t>
            </a:r>
          </a:p>
        </p:txBody>
      </p:sp>
      <p:sp>
        <p:nvSpPr>
          <p:cNvPr id="4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29369" y="2071316"/>
            <a:ext cx="5035164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/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900"/>
              <a:t>Target Distribution</a:t>
            </a:r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Non-Bankrupt: 5,609 companies (96.6%)</a:t>
            </a:r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Bankrupt: 198 companies (3.4%)</a:t>
            </a:r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Class ratio approximately 28:1</a:t>
            </a:r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endParaRPr lang="en-US" sz="1900"/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900"/>
              <a:t>Key Insights</a:t>
            </a:r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Highly imbalanced dataset</a:t>
            </a:r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Most ML models will get high accuracy by predicting “Non-Bankrupt” always</a:t>
            </a:r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Requires careful model evaluation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DA1197D-1EEC-0FA2-67A0-D6EFFCF27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663" y="2514070"/>
            <a:ext cx="3417573" cy="28029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FB9429-4AAA-C9DE-433B-B0181CEC9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011FE7-01E8-5ED3-3F98-ED3F18012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/>
              <a:t>Correlation Analysis</a:t>
            </a:r>
          </a:p>
        </p:txBody>
      </p:sp>
      <p:sp>
        <p:nvSpPr>
          <p:cNvPr id="4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E55D6A-8782-A5D8-D0AB-DE7634ACE2F4}"/>
              </a:ext>
            </a:extLst>
          </p:cNvPr>
          <p:cNvSpPr txBox="1"/>
          <p:nvPr/>
        </p:nvSpPr>
        <p:spPr>
          <a:xfrm>
            <a:off x="429369" y="2071316"/>
            <a:ext cx="4362764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300"/>
              <a:t>Goal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300"/>
              <a:t>Identify financial ratios most related to bankruptcy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300"/>
              <a:t>Use Pearson correlation to rank features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endParaRPr lang="en-US" sz="1300"/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300"/>
              <a:t>Key Insights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300"/>
              <a:t>Profitability ratios (Net Income/Assets, ROA) → strong negative correlation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300"/>
              <a:t>Debt ratios (Debt %, Liability/Equity) → positive correlation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300"/>
              <a:t>High debt + low profitability = higher bankruptcy risk</a:t>
            </a: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endParaRPr lang="en-US" sz="1300" b="1"/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300" b="1"/>
              <a:t>Selected Features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300"/>
              <a:t>Top 20 features selected by absolute correlation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300"/>
              <a:t>Mix of profitability, leverage, and liquidity indicators</a:t>
            </a:r>
          </a:p>
          <a:p>
            <a:pPr marL="22860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endParaRPr lang="en-US" sz="130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35CEDA8-5C9C-F317-9EFC-5E1706F91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500" y="2137834"/>
            <a:ext cx="4656736" cy="367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80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/>
              <a:t> Top Predictive Features</a:t>
            </a:r>
          </a:p>
        </p:txBody>
      </p:sp>
      <p:sp>
        <p:nvSpPr>
          <p:cNvPr id="2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29369" y="2071316"/>
            <a:ext cx="5035164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/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300"/>
              <a:t>Goal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300"/>
              <a:t>Show how important features relate to each other &amp; target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300"/>
              <a:t>Highlights clusters of similar financial behavior</a:t>
            </a: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300" b="1"/>
              <a:t>Key Insights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300"/>
              <a:t>Profitability metrics (ROA, Net Income ratios) cluster together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300"/>
              <a:t>Debt-related ratios form a separate high-correlation cluster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300"/>
              <a:t>Bankruptcy target correlates most with: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300"/>
              <a:t>Low profitability features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300"/>
              <a:t>High debt/liability features</a:t>
            </a: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300" b="1"/>
              <a:t>Result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300"/>
              <a:t>Confirms that performance + leverage are the two strongest dimensions predicting bankruptcy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400" b="1">
                <a:solidFill>
                  <a:srgbClr val="764BA2"/>
                </a:solidFill>
              </a:defRPr>
            </a:pPr>
            <a:endParaRPr lang="en-US" sz="13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6C11BE-8A19-AE7F-140C-4C7A9CCFD2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43" r="10839" b="3"/>
          <a:stretch>
            <a:fillRect/>
          </a:stretch>
        </p:blipFill>
        <p:spPr>
          <a:xfrm>
            <a:off x="5319423" y="2093975"/>
            <a:ext cx="3393118" cy="45014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0BD5A-F987-FEA1-846F-BEAED4A8A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243758D-A5F5-8254-97AE-7F4309DF3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D9B280-3A08-79D0-CE21-772F2837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/>
              <a:t> Distribution Analysis</a:t>
            </a:r>
          </a:p>
        </p:txBody>
      </p:sp>
      <p:sp>
        <p:nvSpPr>
          <p:cNvPr id="27" name="sketchy line">
            <a:extLst>
              <a:ext uri="{FF2B5EF4-FFF2-40B4-BE49-F238E27FC236}">
                <a16:creationId xmlns:a16="http://schemas.microsoft.com/office/drawing/2014/main" id="{8EEC4CB6-2284-533A-F389-9CF5E3267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C07F1F-4754-ECAE-ECDE-310660326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71" y="2040185"/>
            <a:ext cx="2194560" cy="15585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A9303A-FF91-D54F-CBB4-ED4FF7469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660" y="2057830"/>
            <a:ext cx="2194560" cy="14392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88D615-E9A1-92C7-3807-1EF327D9D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857" y="2040185"/>
            <a:ext cx="2194560" cy="14392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814377-560E-09EF-8CE5-64B811E5D9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6285" y="2057830"/>
            <a:ext cx="2194560" cy="13711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1066AA-861B-2827-C3CA-332BA43806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0" y="4038520"/>
            <a:ext cx="2065031" cy="1443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3EDE49-7882-6501-28DE-893C73ED15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0822" y="4019276"/>
            <a:ext cx="2194560" cy="1443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30A9D25-1AC4-B3E6-ED3B-4ADD04B738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4169" y="4019276"/>
            <a:ext cx="2194560" cy="14392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783C4E4-BAAE-4D68-9627-3C4855FABA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6204" y="4019276"/>
            <a:ext cx="2194560" cy="14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090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9DC251-D525-BFA2-59BA-DF9D8D24F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CF9D1-DDF6-9A55-7805-03383EA4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/>
              <a:t> Principal Component Analysis</a:t>
            </a:r>
          </a:p>
        </p:txBody>
      </p:sp>
      <p:sp>
        <p:nvSpPr>
          <p:cNvPr id="30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5050C-C660-B837-B2DA-2F78001B4B05}"/>
              </a:ext>
            </a:extLst>
          </p:cNvPr>
          <p:cNvSpPr txBox="1"/>
          <p:nvPr/>
        </p:nvSpPr>
        <p:spPr>
          <a:xfrm>
            <a:off x="429369" y="2071316"/>
            <a:ext cx="5035164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500"/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500"/>
              <a:t>Goal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500"/>
              <a:t>Reduce 95+ financial features into 2 components for visualization</a:t>
            </a: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500" b="1"/>
              <a:t>Key Insights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500" err="1"/>
              <a:t>PC1</a:t>
            </a:r>
            <a:r>
              <a:rPr lang="en-US" sz="1500"/>
              <a:t> captures differences in </a:t>
            </a:r>
            <a:r>
              <a:rPr lang="en-US" sz="1500" b="1"/>
              <a:t>profitability + debt load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500" err="1"/>
              <a:t>PC2</a:t>
            </a:r>
            <a:r>
              <a:rPr lang="en-US" sz="1500"/>
              <a:t> captures variability in </a:t>
            </a:r>
            <a:r>
              <a:rPr lang="en-US" sz="1500" b="1"/>
              <a:t>operational efficiency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500"/>
              <a:t>Bankrupt firms tend to shift toward one region of the plot (lower </a:t>
            </a:r>
            <a:r>
              <a:rPr lang="en-US" sz="1500" err="1"/>
              <a:t>PC1</a:t>
            </a:r>
            <a:r>
              <a:rPr lang="en-US" sz="1500"/>
              <a:t>)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endParaRPr lang="en-US" sz="1500"/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endParaRPr lang="en-US" sz="1500"/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500" b="1"/>
              <a:t>Result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500" err="1"/>
              <a:t>PCA</a:t>
            </a:r>
            <a:r>
              <a:rPr lang="en-US" sz="1500"/>
              <a:t> confirms that financial distress patterns can be seen even in </a:t>
            </a:r>
            <a:r>
              <a:rPr lang="en-US" sz="1500" b="1"/>
              <a:t>compressed </a:t>
            </a:r>
            <a:r>
              <a:rPr lang="en-US" sz="1500" b="1" err="1"/>
              <a:t>2D</a:t>
            </a:r>
            <a:r>
              <a:rPr lang="en-US" sz="1500" b="1"/>
              <a:t> representation</a:t>
            </a:r>
            <a:endParaRPr lang="en-US" sz="1500"/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endParaRPr lang="en-US" sz="15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408DB30-1877-F084-AFDA-85FAA3686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258" y="2222944"/>
            <a:ext cx="3867553" cy="288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362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80" y="713232"/>
            <a:ext cx="3677956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>
                <a:solidFill>
                  <a:srgbClr val="667EEA"/>
                </a:solidFill>
              </a:rPr>
              <a:t>Model</a:t>
            </a:r>
            <a:br>
              <a:rPr lang="en-US" sz="4700">
                <a:solidFill>
                  <a:srgbClr val="667EEA"/>
                </a:solidFill>
              </a:rPr>
            </a:br>
            <a:r>
              <a:rPr lang="en-US" sz="4700">
                <a:solidFill>
                  <a:srgbClr val="667EEA"/>
                </a:solidFill>
              </a:rPr>
              <a:t>Development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900" b="1">
                <a:solidFill>
                  <a:schemeClr val="accent4"/>
                </a:solidFill>
              </a:rPr>
              <a:t>Train/Test Split</a:t>
            </a:r>
          </a:p>
          <a:p>
            <a:pPr defTabSz="914400">
              <a:lnSpc>
                <a:spcPct val="90000"/>
              </a:lnSpc>
            </a:pPr>
            <a:endParaRPr lang="en-US" sz="1900" b="1">
              <a:solidFill>
                <a:schemeClr val="accent4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1900" b="1">
                <a:solidFill>
                  <a:schemeClr val="accent4">
                    <a:lumMod val="75000"/>
                  </a:schemeClr>
                </a:solidFill>
              </a:rPr>
              <a:t>Goal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Evaluate model performance on </a:t>
            </a:r>
            <a:r>
              <a:rPr lang="en-US" sz="1900" b="1"/>
              <a:t>unseen data</a:t>
            </a:r>
            <a:r>
              <a:rPr lang="en-US" sz="1900"/>
              <a:t> to avoid overfitting.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/>
          </a:p>
          <a:p>
            <a:pPr defTabSz="914400">
              <a:lnSpc>
                <a:spcPct val="90000"/>
              </a:lnSpc>
            </a:pPr>
            <a:r>
              <a:rPr lang="en-US" sz="1900" b="1">
                <a:solidFill>
                  <a:schemeClr val="accent4">
                    <a:lumMod val="75000"/>
                  </a:schemeClr>
                </a:solidFill>
              </a:rPr>
              <a:t>Method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80% of data → </a:t>
            </a:r>
            <a:r>
              <a:rPr lang="en-US" sz="1900" b="1"/>
              <a:t>Training</a:t>
            </a:r>
            <a:endParaRPr lang="en-US" sz="190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20% of data → </a:t>
            </a:r>
            <a:r>
              <a:rPr lang="en-US" sz="1900" b="1"/>
              <a:t>Testing</a:t>
            </a:r>
            <a:endParaRPr lang="en-US" sz="190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/>
              <a:t>Stratified split</a:t>
            </a:r>
            <a:r>
              <a:rPr lang="en-US" sz="1900"/>
              <a:t> used to keep bankruptcy ratio consistent in both sets.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/>
          </a:p>
          <a:p>
            <a:pPr defTabSz="914400">
              <a:lnSpc>
                <a:spcPct val="90000"/>
              </a:lnSpc>
            </a:pPr>
            <a:r>
              <a:rPr lang="en-US" sz="1900" b="1">
                <a:solidFill>
                  <a:schemeClr val="accent4">
                    <a:lumMod val="75000"/>
                  </a:schemeClr>
                </a:solidFill>
              </a:rPr>
              <a:t>Key Stats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Train size: </a:t>
            </a:r>
            <a:r>
              <a:rPr lang="en-US" sz="1900" i="1" err="1"/>
              <a:t>X_train.shape</a:t>
            </a:r>
            <a:endParaRPr lang="en-US" sz="190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Test size: </a:t>
            </a:r>
            <a:r>
              <a:rPr lang="en-US" sz="1900" i="1" err="1"/>
              <a:t>X_test.shape</a:t>
            </a:r>
            <a:endParaRPr lang="en-US" sz="190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Positive (bankruptcy) rate preserved across both sets</a:t>
            </a:r>
          </a:p>
          <a:p>
            <a:pPr marL="22860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endParaRPr lang="en-US"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90F66F-AF48-74E4-BD4B-BDF31FB4C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E91420C-AD5A-3B55-AECC-12649B54E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A95561-A346-5D11-97DC-EFA1EBED1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/>
              <a:t> SMOTE Oversampling</a:t>
            </a:r>
          </a:p>
        </p:txBody>
      </p:sp>
      <p:sp>
        <p:nvSpPr>
          <p:cNvPr id="27" name="sketchy line">
            <a:extLst>
              <a:ext uri="{FF2B5EF4-FFF2-40B4-BE49-F238E27FC236}">
                <a16:creationId xmlns:a16="http://schemas.microsoft.com/office/drawing/2014/main" id="{08A5309D-EC8F-1915-1B66-CC6D91CCA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2FCF3A-512C-8E60-668E-7F7D17BD5E76}"/>
              </a:ext>
            </a:extLst>
          </p:cNvPr>
          <p:cNvSpPr txBox="1"/>
          <p:nvPr/>
        </p:nvSpPr>
        <p:spPr>
          <a:xfrm>
            <a:off x="533400" y="2049700"/>
            <a:ext cx="5646420" cy="3466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300"/>
              <a:t>Why SMOTE?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400"/>
              <a:t>Bankruptcy class is highly imbalanced</a:t>
            </a:r>
            <a:br>
              <a:rPr lang="en-US" sz="1400"/>
            </a:br>
            <a:r>
              <a:rPr lang="en-US" sz="1400"/>
              <a:t>(very few bankrupt companies compared to non-bankrupt)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400"/>
              <a:t>Models struggle to learn minority patterns 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400"/>
              <a:t>SMOTE generates synthetic minority samples to balance training data</a:t>
            </a: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300"/>
              <a:t>Impact on Data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400"/>
              <a:t>Training distribution becomes balanced (50/50)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400"/>
              <a:t>Improves ability to detect bankrupt firms</a:t>
            </a:r>
          </a:p>
          <a:p>
            <a:pPr defTabSz="914400">
              <a:lnSpc>
                <a:spcPct val="90000"/>
              </a:lnSpc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rPr lang="en-US" sz="1300" b="1"/>
              <a:t>Result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400"/>
              <a:t>More stable model performance</a:t>
            </a:r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400"/>
              <a:t>Better detection of minority class without simple duplication</a:t>
            </a:r>
            <a:endParaRPr lang="en-US" sz="1300"/>
          </a:p>
          <a:p>
            <a:pPr marL="400050"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024491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29C54-50A1-4016-3E3E-5DF12D022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D583C30-B7C4-161D-9974-93FEF4B6F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2FF1E-2FED-9CE3-B3F7-E6223A869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/>
              <a:t>Model 1 - KNN</a:t>
            </a:r>
          </a:p>
        </p:txBody>
      </p:sp>
      <p:sp>
        <p:nvSpPr>
          <p:cNvPr id="30" name="sketchy line">
            <a:extLst>
              <a:ext uri="{FF2B5EF4-FFF2-40B4-BE49-F238E27FC236}">
                <a16:creationId xmlns:a16="http://schemas.microsoft.com/office/drawing/2014/main" id="{6BCAA2C8-DA64-57F6-0F29-179A4A97E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570267-3C68-14FA-5E88-F102CB5FA291}"/>
              </a:ext>
            </a:extLst>
          </p:cNvPr>
          <p:cNvSpPr txBox="1"/>
          <p:nvPr/>
        </p:nvSpPr>
        <p:spPr>
          <a:xfrm>
            <a:off x="429369" y="2071316"/>
            <a:ext cx="5035164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b="1">
                <a:solidFill>
                  <a:srgbClr val="7030A0"/>
                </a:solidFill>
              </a:rPr>
              <a:t>Model Details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KNN Used With </a:t>
            </a:r>
            <a:r>
              <a:rPr lang="en-US" err="1"/>
              <a:t>StandardScaler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Tuned with: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k = 5, 10, 15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weights = distance</a:t>
            </a:r>
            <a:endParaRPr lang="en-US">
              <a:ea typeface="Calibri"/>
              <a:cs typeface="Calibri"/>
            </a:endParaRPr>
          </a:p>
          <a:p>
            <a:pPr lvl="1"/>
            <a:endParaRPr lang="en-US"/>
          </a:p>
          <a:p>
            <a:r>
              <a:rPr lang="en-US" b="1">
                <a:solidFill>
                  <a:srgbClr val="7030A0"/>
                </a:solidFill>
              </a:rPr>
              <a:t>Why KNN?</a:t>
            </a:r>
            <a:endParaRPr lang="en-US" b="1">
              <a:solidFill>
                <a:srgbClr val="7030A0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Simple, intuitive classification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Works well with SMOTE-balanced data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Good baseline model to compare with other classification Models</a:t>
            </a:r>
            <a:endParaRPr lang="en-US">
              <a:ea typeface="Calibri"/>
              <a:cs typeface="Calibri"/>
            </a:endParaRPr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981231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rPr sz="4700">
                <a:solidFill>
                  <a:srgbClr val="667EEA"/>
                </a:solidFill>
              </a:rPr>
              <a:t>KNN Model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3200400" cy="137160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/>
              <a:t>84.33</a:t>
            </a:r>
            <a:r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Accuracy</a:t>
            </a:r>
            <a:endParaRPr>
              <a:ea typeface="Calibri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0" y="2286000"/>
            <a:ext cx="3200400" cy="137160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/>
              <a:t>15.86</a:t>
            </a:r>
            <a:r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Precision</a:t>
            </a:r>
            <a:endParaRPr>
              <a:ea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71600" y="4114800"/>
            <a:ext cx="3200400" cy="137160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/>
              <a:t>82.5</a:t>
            </a:r>
            <a:r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Recall</a:t>
            </a:r>
            <a:endParaRPr>
              <a:ea typeface="Calibri"/>
              <a:cs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0" y="4114800"/>
            <a:ext cx="3200400" cy="137160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/>
              <a:t>0.91 </a:t>
            </a:r>
            <a:endParaRPr/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ROC-AUC</a:t>
            </a:r>
            <a:endParaRPr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EF1C39-6169-D977-F71C-6E9590FDB073}"/>
              </a:ext>
            </a:extLst>
          </p:cNvPr>
          <p:cNvSpPr txBox="1"/>
          <p:nvPr/>
        </p:nvSpPr>
        <p:spPr>
          <a:xfrm>
            <a:off x="1484578" y="1585227"/>
            <a:ext cx="15097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K = 15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787387-CBF9-3E61-E809-007EDDEA6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686D69-322B-E802-B615-34E6338F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>
                <a:solidFill>
                  <a:srgbClr val="667EEA"/>
                </a:solidFill>
              </a:rPr>
              <a:t>KNN Evaluation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E7F323-5C1F-C331-06F0-2D6C9035F6FB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300" b="1" dirty="0">
                <a:solidFill>
                  <a:srgbClr val="7030A0"/>
                </a:solidFill>
              </a:rPr>
              <a:t>Observations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True Negative: 947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True Positive: 33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False Negative: 7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False Positive: 175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1300" dirty="0"/>
            </a:br>
            <a:endParaRPr lang="en-US" sz="1300" dirty="0">
              <a:solidFill>
                <a:srgbClr val="7030A0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300" b="1" dirty="0">
                <a:solidFill>
                  <a:srgbClr val="7030A0"/>
                </a:solidFill>
              </a:rPr>
              <a:t>Key Insights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Model misses bankrupt companies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Highlights need for more powerful 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B0B755-303B-A718-DAD5-1AC5D0D0D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523" y="119921"/>
            <a:ext cx="4085445" cy="3198527"/>
          </a:xfrm>
          <a:prstGeom prst="rect">
            <a:avLst/>
          </a:prstGeom>
        </p:spPr>
      </p:pic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D8D80F52-EAE6-C6CC-23CE-C379EEAA6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955" y="3603651"/>
            <a:ext cx="3791107" cy="294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37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02F71-2EDB-68F7-849A-8F978A1B6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0104D-7D7A-3939-60A8-D73FD56DF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>
                <a:solidFill>
                  <a:srgbClr val="667EEA"/>
                </a:solidFill>
              </a:rPr>
              <a:t>Model 2 -ANN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C43022-69E6-2005-FB37-4FD61E4A39E3}"/>
              </a:ext>
            </a:extLst>
          </p:cNvPr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900" b="1" dirty="0">
                <a:solidFill>
                  <a:srgbClr val="7030A0"/>
                </a:solidFill>
              </a:rPr>
              <a:t>Model Details</a:t>
            </a:r>
            <a:endParaRPr lang="en-US" dirty="0">
              <a:solidFill>
                <a:srgbClr val="7030A0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ANN (MLP Classifier) used with 4 hidden layers</a:t>
            </a:r>
            <a:endParaRPr lang="en-US" sz="1900">
              <a:ea typeface="Calibri"/>
              <a:cs typeface="Calibri"/>
            </a:endParaRPr>
          </a:p>
          <a:p>
            <a:pPr marL="228600"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28600"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/>
          </a:p>
          <a:p>
            <a:pPr defTabSz="914400">
              <a:lnSpc>
                <a:spcPct val="90000"/>
              </a:lnSpc>
            </a:pPr>
            <a:r>
              <a:rPr lang="en-US" sz="1900" b="1" dirty="0">
                <a:solidFill>
                  <a:srgbClr val="7030A0"/>
                </a:solidFill>
              </a:rPr>
              <a:t>Why ANN?</a:t>
            </a:r>
            <a:endParaRPr lang="en-US" sz="1900" b="1" dirty="0">
              <a:solidFill>
                <a:srgbClr val="7030A0"/>
              </a:solidFill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b="1" dirty="0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Captures non-linear financial pattern</a:t>
            </a:r>
            <a:endParaRPr lang="en-US" sz="19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Learns complex relationships between profitability, debt, liquidity</a:t>
            </a:r>
            <a:endParaRPr lang="en-US" sz="19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Works well with large numeric datasets like bankruptcy data</a:t>
            </a:r>
            <a:endParaRPr lang="en-US" sz="1900" b="1" dirty="0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/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038561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A8D11-87AC-8280-2304-A1B1AF827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EB781-5773-0994-7ED3-CFA3A9F0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rPr lang="en-US" sz="4700">
                <a:solidFill>
                  <a:srgbClr val="667EEA"/>
                </a:solidFill>
              </a:rPr>
              <a:t>A</a:t>
            </a:r>
            <a:r>
              <a:rPr sz="4700">
                <a:solidFill>
                  <a:srgbClr val="667EEA"/>
                </a:solidFill>
              </a:rPr>
              <a:t>NN Model Performance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833EB9-4E93-052B-C3B9-9D8CEC165D3C}"/>
              </a:ext>
            </a:extLst>
          </p:cNvPr>
          <p:cNvSpPr/>
          <p:nvPr/>
        </p:nvSpPr>
        <p:spPr>
          <a:xfrm>
            <a:off x="1371600" y="2286000"/>
            <a:ext cx="3200400" cy="137160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/>
              <a:t>96.90</a:t>
            </a:r>
            <a:r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47CAA5-0D1B-6DED-B92C-6F9F8E7E5043}"/>
              </a:ext>
            </a:extLst>
          </p:cNvPr>
          <p:cNvSpPr/>
          <p:nvPr/>
        </p:nvSpPr>
        <p:spPr>
          <a:xfrm>
            <a:off x="5029200" y="2286000"/>
            <a:ext cx="3200400" cy="137160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/>
              <a:t>55</a:t>
            </a:r>
            <a:r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7952C9-5823-E794-72FA-1FFDECA1581E}"/>
              </a:ext>
            </a:extLst>
          </p:cNvPr>
          <p:cNvSpPr/>
          <p:nvPr/>
        </p:nvSpPr>
        <p:spPr>
          <a:xfrm>
            <a:off x="1371600" y="4114800"/>
            <a:ext cx="3200400" cy="137160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/>
              <a:t>50</a:t>
            </a:r>
            <a:r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EE119A-5EC8-AB8A-4D17-321AF2512668}"/>
              </a:ext>
            </a:extLst>
          </p:cNvPr>
          <p:cNvSpPr/>
          <p:nvPr/>
        </p:nvSpPr>
        <p:spPr>
          <a:xfrm>
            <a:off x="5029200" y="4114800"/>
            <a:ext cx="3200400" cy="137160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/>
              <a:t>0.91</a:t>
            </a:r>
            <a:endParaRPr/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ROC-AUC</a:t>
            </a:r>
          </a:p>
        </p:txBody>
      </p:sp>
    </p:spTree>
    <p:extLst>
      <p:ext uri="{BB962C8B-B14F-4D97-AF65-F5344CB8AC3E}">
        <p14:creationId xmlns:p14="http://schemas.microsoft.com/office/powerpoint/2010/main" val="94196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A332AB-87C7-B0A7-3C24-FD0BB054C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BE12B6-7305-C642-0394-CF8F38B61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/>
              <a:t>ANN Evaluation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B94D82-3538-838B-70AE-9162EC5BAE5F}"/>
              </a:ext>
            </a:extLst>
          </p:cNvPr>
          <p:cNvSpPr txBox="1"/>
          <p:nvPr/>
        </p:nvSpPr>
        <p:spPr>
          <a:xfrm>
            <a:off x="429369" y="3682758"/>
            <a:ext cx="5035164" cy="250773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900" b="1">
              <a:solidFill>
                <a:srgbClr val="7030A0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1900"/>
            </a:br>
            <a:endParaRPr lang="en-US" sz="190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900" b="1">
                <a:solidFill>
                  <a:srgbClr val="7030A0"/>
                </a:solidFill>
              </a:rPr>
              <a:t>Key Insights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ANN outperforms KNN in detecting bankruptcy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More suitable for financial-risk prediction due to deeper learning capability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91F923-553C-F375-6E58-5BDFAEEF7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26" y="1867941"/>
            <a:ext cx="3187829" cy="25267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1BA160-0F75-67B1-A9B6-B7666D839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057" y="234221"/>
            <a:ext cx="4014387" cy="2526527"/>
          </a:xfrm>
          <a:prstGeom prst="rect">
            <a:avLst/>
          </a:prstGeom>
        </p:spPr>
      </p:pic>
      <p:pic>
        <p:nvPicPr>
          <p:cNvPr id="3" name="Picture 2" descr="A chart with different colored bars&#10;&#10;AI-generated content may be incorrect.">
            <a:extLst>
              <a:ext uri="{FF2B5EF4-FFF2-40B4-BE49-F238E27FC236}">
                <a16:creationId xmlns:a16="http://schemas.microsoft.com/office/drawing/2014/main" id="{C9C8D335-4736-2B22-D697-48F0D871D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682" y="3147545"/>
            <a:ext cx="3569064" cy="35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499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7FFA58-60D4-B1CC-F99F-067137B52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D008C4-6614-1F04-00DB-08AA2D5DE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39520"/>
            <a:ext cx="3613768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>
                <a:solidFill>
                  <a:srgbClr val="667EEA"/>
                </a:solidFill>
              </a:rPr>
              <a:t>Model 3-</a:t>
            </a:r>
            <a:r>
              <a:rPr lang="en-US" sz="4700" err="1">
                <a:solidFill>
                  <a:srgbClr val="667EEA"/>
                </a:solidFill>
              </a:rPr>
              <a:t>SVM</a:t>
            </a:r>
            <a:endParaRPr lang="en-US" sz="4700">
              <a:solidFill>
                <a:srgbClr val="667EEA"/>
              </a:solidFill>
            </a:endParaRP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2757B-AC39-78A2-3E9D-B1F3703E75B7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300" b="1">
                <a:solidFill>
                  <a:srgbClr val="7030A0"/>
                </a:solidFill>
              </a:rPr>
              <a:t>Model Details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 err="1"/>
              <a:t>SVM</a:t>
            </a:r>
            <a:r>
              <a:rPr lang="en-US" sz="1300"/>
              <a:t> (RBF Kernel)</a:t>
            </a:r>
          </a:p>
          <a:p>
            <a:pPr marL="228600"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/>
          </a:p>
          <a:p>
            <a:pPr marL="228600"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/>
          </a:p>
          <a:p>
            <a:pPr defTabSz="914400">
              <a:lnSpc>
                <a:spcPct val="90000"/>
              </a:lnSpc>
            </a:pPr>
            <a:r>
              <a:rPr lang="en-US" sz="1300" b="1">
                <a:solidFill>
                  <a:srgbClr val="7030A0"/>
                </a:solidFill>
              </a:rPr>
              <a:t>Why </a:t>
            </a:r>
            <a:r>
              <a:rPr lang="en-US" sz="1300" b="1" err="1">
                <a:solidFill>
                  <a:srgbClr val="7030A0"/>
                </a:solidFill>
              </a:rPr>
              <a:t>SVM</a:t>
            </a:r>
            <a:r>
              <a:rPr lang="en-US" sz="1300" b="1">
                <a:solidFill>
                  <a:srgbClr val="7030A0"/>
                </a:solidFill>
              </a:rPr>
              <a:t>?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 b="1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/>
              <a:t>Excellent at separating classes with a clear margin.</a:t>
            </a:r>
          </a:p>
          <a:p>
            <a:pPr marL="571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/>
              <a:t>Captures non-linear financial boundaries &amp; Robust to outliers.</a:t>
            </a:r>
          </a:p>
          <a:p>
            <a:pPr marL="571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/>
              <a:t>Strong performance even with skewed data.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/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endParaRPr lang="en-US" sz="1300"/>
          </a:p>
        </p:txBody>
      </p:sp>
      <p:pic>
        <p:nvPicPr>
          <p:cNvPr id="3" name="Picture 2" descr="A graph with blue bars and white text&#10;&#10;AI-generated content may be incorrect.">
            <a:extLst>
              <a:ext uri="{FF2B5EF4-FFF2-40B4-BE49-F238E27FC236}">
                <a16:creationId xmlns:a16="http://schemas.microsoft.com/office/drawing/2014/main" id="{7CB2490C-7088-A6DF-24F0-DEB2C8026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896" y="1519690"/>
            <a:ext cx="4732616" cy="381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824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9778C-08E7-F84A-505C-BA4C74564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E7A23-F1C6-2D30-C2E0-9C2D8A236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rPr lang="en-US" sz="4700">
                <a:solidFill>
                  <a:srgbClr val="667EEA"/>
                </a:solidFill>
              </a:rPr>
              <a:t>SVM Model</a:t>
            </a:r>
            <a:r>
              <a:rPr sz="4700">
                <a:solidFill>
                  <a:srgbClr val="667EEA"/>
                </a:solidFill>
              </a:rPr>
              <a:t> Performance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C9D606-B78A-4847-464A-9C432DD671E1}"/>
              </a:ext>
            </a:extLst>
          </p:cNvPr>
          <p:cNvSpPr/>
          <p:nvPr/>
        </p:nvSpPr>
        <p:spPr>
          <a:xfrm>
            <a:off x="1371600" y="2286000"/>
            <a:ext cx="3200400" cy="137160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/>
              <a:t>92</a:t>
            </a:r>
            <a:r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Accuracy</a:t>
            </a:r>
            <a:endParaRPr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44D1CA-856A-845C-9A41-F06C13C36B6E}"/>
              </a:ext>
            </a:extLst>
          </p:cNvPr>
          <p:cNvSpPr/>
          <p:nvPr/>
        </p:nvSpPr>
        <p:spPr>
          <a:xfrm>
            <a:off x="5029200" y="2286000"/>
            <a:ext cx="3200400" cy="137160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/>
              <a:t>25</a:t>
            </a:r>
            <a:r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Precision</a:t>
            </a:r>
            <a:endParaRPr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FA9B3B-502A-9FAE-A8CE-F9C89D32C9D7}"/>
              </a:ext>
            </a:extLst>
          </p:cNvPr>
          <p:cNvSpPr/>
          <p:nvPr/>
        </p:nvSpPr>
        <p:spPr>
          <a:xfrm>
            <a:off x="1371600" y="4114800"/>
            <a:ext cx="3200400" cy="137160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/>
              <a:t>70</a:t>
            </a:r>
            <a:r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Recall</a:t>
            </a:r>
            <a:endParaRPr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735A31-7084-4673-677A-80B19556BD53}"/>
              </a:ext>
            </a:extLst>
          </p:cNvPr>
          <p:cNvSpPr/>
          <p:nvPr/>
        </p:nvSpPr>
        <p:spPr>
          <a:xfrm>
            <a:off x="5029200" y="4114800"/>
            <a:ext cx="3200400" cy="137160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/>
              <a:t>92.2%</a:t>
            </a:r>
            <a:endParaRPr/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ROC-AUC</a:t>
            </a:r>
            <a:endParaRPr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3202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6C4F8-F561-AEFE-C58C-45E012444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70E2EE-29A9-4DEB-B670-F2976265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9184"/>
            <a:ext cx="5170932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 err="1"/>
              <a:t>SVM</a:t>
            </a:r>
            <a:r>
              <a:rPr lang="en-US" sz="4700"/>
              <a:t> Evaluation</a:t>
            </a:r>
          </a:p>
        </p:txBody>
      </p:sp>
      <p:sp>
        <p:nvSpPr>
          <p:cNvPr id="3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214" y="2395728"/>
            <a:ext cx="3182691" cy="18288"/>
          </a:xfrm>
          <a:custGeom>
            <a:avLst/>
            <a:gdLst>
              <a:gd name="csX0" fmla="*/ 0 w 3182691"/>
              <a:gd name="csY0" fmla="*/ 0 h 18288"/>
              <a:gd name="csX1" fmla="*/ 636538 w 3182691"/>
              <a:gd name="csY1" fmla="*/ 0 h 18288"/>
              <a:gd name="csX2" fmla="*/ 1273076 w 3182691"/>
              <a:gd name="csY2" fmla="*/ 0 h 18288"/>
              <a:gd name="csX3" fmla="*/ 1909615 w 3182691"/>
              <a:gd name="csY3" fmla="*/ 0 h 18288"/>
              <a:gd name="csX4" fmla="*/ 2482499 w 3182691"/>
              <a:gd name="csY4" fmla="*/ 0 h 18288"/>
              <a:gd name="csX5" fmla="*/ 3182691 w 3182691"/>
              <a:gd name="csY5" fmla="*/ 0 h 18288"/>
              <a:gd name="csX6" fmla="*/ 3182691 w 3182691"/>
              <a:gd name="csY6" fmla="*/ 18288 h 18288"/>
              <a:gd name="csX7" fmla="*/ 2609807 w 3182691"/>
              <a:gd name="csY7" fmla="*/ 18288 h 18288"/>
              <a:gd name="csX8" fmla="*/ 2068749 w 3182691"/>
              <a:gd name="csY8" fmla="*/ 18288 h 18288"/>
              <a:gd name="csX9" fmla="*/ 1432211 w 3182691"/>
              <a:gd name="csY9" fmla="*/ 18288 h 18288"/>
              <a:gd name="csX10" fmla="*/ 859327 w 3182691"/>
              <a:gd name="csY10" fmla="*/ 18288 h 18288"/>
              <a:gd name="csX11" fmla="*/ 0 w 3182691"/>
              <a:gd name="csY11" fmla="*/ 18288 h 18288"/>
              <a:gd name="csX12" fmla="*/ 0 w 3182691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3133" y="4516"/>
                  <a:pt x="3181864" y="12266"/>
                  <a:pt x="3182691" y="18288"/>
                </a:cubicBezTo>
                <a:cubicBezTo>
                  <a:pt x="2947041" y="16687"/>
                  <a:pt x="2875741" y="22937"/>
                  <a:pt x="2609807" y="18288"/>
                </a:cubicBezTo>
                <a:cubicBezTo>
                  <a:pt x="2343873" y="13639"/>
                  <a:pt x="2331203" y="31729"/>
                  <a:pt x="2068749" y="18288"/>
                </a:cubicBezTo>
                <a:cubicBezTo>
                  <a:pt x="1806295" y="4847"/>
                  <a:pt x="1713773" y="47088"/>
                  <a:pt x="1432211" y="18288"/>
                </a:cubicBezTo>
                <a:cubicBezTo>
                  <a:pt x="1150649" y="-10512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3268" y="4624"/>
                  <a:pt x="3183510" y="11191"/>
                  <a:pt x="3182691" y="18288"/>
                </a:cubicBezTo>
                <a:cubicBezTo>
                  <a:pt x="3026064" y="-10849"/>
                  <a:pt x="2775005" y="23067"/>
                  <a:pt x="2546153" y="18288"/>
                </a:cubicBezTo>
                <a:cubicBezTo>
                  <a:pt x="2317301" y="13509"/>
                  <a:pt x="2164351" y="-9884"/>
                  <a:pt x="1845961" y="18288"/>
                </a:cubicBezTo>
                <a:cubicBezTo>
                  <a:pt x="1527571" y="46460"/>
                  <a:pt x="1455006" y="5824"/>
                  <a:pt x="1304903" y="18288"/>
                </a:cubicBezTo>
                <a:cubicBezTo>
                  <a:pt x="1154800" y="30752"/>
                  <a:pt x="942107" y="-12056"/>
                  <a:pt x="604711" y="18288"/>
                </a:cubicBezTo>
                <a:cubicBezTo>
                  <a:pt x="267315" y="48632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FB205C-330D-5A65-7E18-00B602565239}"/>
              </a:ext>
            </a:extLst>
          </p:cNvPr>
          <p:cNvSpPr txBox="1"/>
          <p:nvPr/>
        </p:nvSpPr>
        <p:spPr>
          <a:xfrm>
            <a:off x="480060" y="2706624"/>
            <a:ext cx="5170932" cy="348386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b="1">
                <a:solidFill>
                  <a:srgbClr val="7030A0"/>
                </a:solidFill>
              </a:rPr>
              <a:t>Observations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True Negative: 1039</a:t>
            </a:r>
            <a:endParaRPr lang="en-US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True Positive: 12</a:t>
            </a:r>
            <a:endParaRPr lang="en-US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False Negative: 28</a:t>
            </a:r>
            <a:endParaRPr lang="en-US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False Positive: 83</a:t>
            </a:r>
            <a:endParaRPr lang="en-US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/>
            </a:br>
            <a:endParaRPr lang="en-US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b="1">
                <a:solidFill>
                  <a:srgbClr val="7030A0"/>
                </a:solidFill>
              </a:rPr>
              <a:t>Key Insights</a:t>
            </a:r>
            <a:endParaRPr lang="en-US" b="1">
              <a:solidFill>
                <a:srgbClr val="7030A0"/>
              </a:solidFill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ea typeface="+mn-lt"/>
                <a:cs typeface="+mn-lt"/>
              </a:rPr>
              <a:t>SVM</a:t>
            </a:r>
            <a:r>
              <a:rPr lang="en-US">
                <a:ea typeface="+mn-lt"/>
                <a:cs typeface="+mn-lt"/>
              </a:rPr>
              <a:t> identifies bankruptcy cases better than traditional linear models</a:t>
            </a: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More reliable for separating high-risk vs. low-risk firms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FE201B-C30B-7231-ED16-DE0FE6EC9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779689"/>
            <a:ext cx="3010662" cy="2528956"/>
          </a:xfrm>
          <a:prstGeom prst="rect">
            <a:avLst/>
          </a:prstGeom>
        </p:spPr>
      </p:pic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B3B4584B-A83C-8AFB-DB7C-BE351F863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420" y="4079193"/>
            <a:ext cx="2711865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380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638732-AAC9-D6BC-C3E8-E4D1C111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097237-5331-60DE-4499-A1179A0D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>
                <a:solidFill>
                  <a:srgbClr val="667EEA"/>
                </a:solidFill>
              </a:rPr>
              <a:t>Model 4-</a:t>
            </a:r>
            <a:r>
              <a:rPr lang="en-US" sz="4700" err="1">
                <a:solidFill>
                  <a:srgbClr val="667EEA"/>
                </a:solidFill>
              </a:rPr>
              <a:t>CatBoost</a:t>
            </a:r>
            <a:endParaRPr lang="en-US" sz="4700">
              <a:solidFill>
                <a:srgbClr val="667EEA"/>
              </a:solidFill>
            </a:endParaRPr>
          </a:p>
        </p:txBody>
      </p:sp>
      <p:sp>
        <p:nvSpPr>
          <p:cNvPr id="5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60AD40-2FAC-498E-55B8-E67E898086D7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600" b="1">
                <a:solidFill>
                  <a:srgbClr val="7030A0"/>
                </a:solidFill>
              </a:rPr>
              <a:t>Model Details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err="1"/>
              <a:t>CatBoost</a:t>
            </a:r>
            <a:r>
              <a:rPr lang="en-US" sz="1600"/>
              <a:t> Classifier</a:t>
            </a:r>
          </a:p>
          <a:p>
            <a:pPr marL="228600"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/>
          </a:p>
          <a:p>
            <a:pPr marL="228600"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/>
          </a:p>
          <a:p>
            <a:pPr defTabSz="914400">
              <a:lnSpc>
                <a:spcPct val="90000"/>
              </a:lnSpc>
            </a:pPr>
            <a:r>
              <a:rPr lang="en-US" sz="1600" b="1">
                <a:solidFill>
                  <a:srgbClr val="7030A0"/>
                </a:solidFill>
              </a:rPr>
              <a:t>Why </a:t>
            </a:r>
            <a:r>
              <a:rPr lang="en-US" sz="1600" b="1" err="1">
                <a:solidFill>
                  <a:srgbClr val="7030A0"/>
                </a:solidFill>
              </a:rPr>
              <a:t>CatBoost</a:t>
            </a:r>
            <a:r>
              <a:rPr lang="en-US" sz="1600" b="1">
                <a:solidFill>
                  <a:srgbClr val="7030A0"/>
                </a:solidFill>
              </a:rPr>
              <a:t>?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b="1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/>
              <a:t>Handles complex non linear relationships very well .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/>
              <a:t>Built in handling of categorical features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/>
              <a:t>Strong performance even with skewed data.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/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endParaRPr lang="en-US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A7E711-DCFF-8322-7526-B032E61B1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500273"/>
            <a:ext cx="5177790" cy="385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353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D8C65-F1E6-B7A1-CAB1-AB7113027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A169-BD73-2798-6CD1-34921083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rPr lang="en-US" sz="4700" err="1">
                <a:solidFill>
                  <a:srgbClr val="667EEA"/>
                </a:solidFill>
              </a:rPr>
              <a:t>CatBoost</a:t>
            </a:r>
            <a:r>
              <a:rPr lang="en-US" sz="4700">
                <a:solidFill>
                  <a:srgbClr val="667EEA"/>
                </a:solidFill>
              </a:rPr>
              <a:t> Model</a:t>
            </a:r>
            <a:r>
              <a:rPr sz="4700">
                <a:solidFill>
                  <a:srgbClr val="667EEA"/>
                </a:solidFill>
              </a:rPr>
              <a:t> Performance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565E07-3641-60E1-98BE-D18536FE9F5D}"/>
              </a:ext>
            </a:extLst>
          </p:cNvPr>
          <p:cNvSpPr/>
          <p:nvPr/>
        </p:nvSpPr>
        <p:spPr>
          <a:xfrm>
            <a:off x="1371600" y="2286000"/>
            <a:ext cx="3200400" cy="137160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/>
              <a:t>96.55</a:t>
            </a:r>
            <a:r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Accuracy</a:t>
            </a:r>
            <a:endParaRPr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0D9995-14AD-DC7D-D657-6B305C750E3B}"/>
              </a:ext>
            </a:extLst>
          </p:cNvPr>
          <p:cNvSpPr/>
          <p:nvPr/>
        </p:nvSpPr>
        <p:spPr>
          <a:xfrm>
            <a:off x="5029200" y="2286000"/>
            <a:ext cx="3200400" cy="137160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/>
              <a:t>50</a:t>
            </a:r>
            <a:r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Precision</a:t>
            </a:r>
            <a:endParaRPr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306CD1-097F-2311-4521-F1CFEA657BEB}"/>
              </a:ext>
            </a:extLst>
          </p:cNvPr>
          <p:cNvSpPr/>
          <p:nvPr/>
        </p:nvSpPr>
        <p:spPr>
          <a:xfrm>
            <a:off x="1371600" y="4114800"/>
            <a:ext cx="3200400" cy="137160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/>
              <a:t>65</a:t>
            </a:r>
            <a:r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Recall</a:t>
            </a:r>
            <a:endParaRPr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40D072-B704-7E80-B159-F8579A3C4041}"/>
              </a:ext>
            </a:extLst>
          </p:cNvPr>
          <p:cNvSpPr/>
          <p:nvPr/>
        </p:nvSpPr>
        <p:spPr>
          <a:xfrm>
            <a:off x="5029200" y="4114800"/>
            <a:ext cx="3200400" cy="137160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/>
              <a:t>94.28%</a:t>
            </a:r>
            <a:endParaRPr/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ROC-AUC</a:t>
            </a:r>
            <a:endParaRPr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29018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0ABCD6-2AA8-F125-7A51-CD7FDFE4C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7B9EF5-A538-6D6E-6DD2-460CFB308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9184"/>
            <a:ext cx="5170932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 err="1"/>
              <a:t>CatBoost</a:t>
            </a:r>
            <a:r>
              <a:rPr lang="en-US" sz="4700"/>
              <a:t> Evaluation</a:t>
            </a:r>
          </a:p>
        </p:txBody>
      </p:sp>
      <p:sp>
        <p:nvSpPr>
          <p:cNvPr id="4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214" y="2395728"/>
            <a:ext cx="3182691" cy="18288"/>
          </a:xfrm>
          <a:custGeom>
            <a:avLst/>
            <a:gdLst>
              <a:gd name="csX0" fmla="*/ 0 w 3182691"/>
              <a:gd name="csY0" fmla="*/ 0 h 18288"/>
              <a:gd name="csX1" fmla="*/ 636538 w 3182691"/>
              <a:gd name="csY1" fmla="*/ 0 h 18288"/>
              <a:gd name="csX2" fmla="*/ 1273076 w 3182691"/>
              <a:gd name="csY2" fmla="*/ 0 h 18288"/>
              <a:gd name="csX3" fmla="*/ 1909615 w 3182691"/>
              <a:gd name="csY3" fmla="*/ 0 h 18288"/>
              <a:gd name="csX4" fmla="*/ 2482499 w 3182691"/>
              <a:gd name="csY4" fmla="*/ 0 h 18288"/>
              <a:gd name="csX5" fmla="*/ 3182691 w 3182691"/>
              <a:gd name="csY5" fmla="*/ 0 h 18288"/>
              <a:gd name="csX6" fmla="*/ 3182691 w 3182691"/>
              <a:gd name="csY6" fmla="*/ 18288 h 18288"/>
              <a:gd name="csX7" fmla="*/ 2609807 w 3182691"/>
              <a:gd name="csY7" fmla="*/ 18288 h 18288"/>
              <a:gd name="csX8" fmla="*/ 2068749 w 3182691"/>
              <a:gd name="csY8" fmla="*/ 18288 h 18288"/>
              <a:gd name="csX9" fmla="*/ 1432211 w 3182691"/>
              <a:gd name="csY9" fmla="*/ 18288 h 18288"/>
              <a:gd name="csX10" fmla="*/ 859327 w 3182691"/>
              <a:gd name="csY10" fmla="*/ 18288 h 18288"/>
              <a:gd name="csX11" fmla="*/ 0 w 3182691"/>
              <a:gd name="csY11" fmla="*/ 18288 h 18288"/>
              <a:gd name="csX12" fmla="*/ 0 w 3182691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3133" y="4516"/>
                  <a:pt x="3181864" y="12266"/>
                  <a:pt x="3182691" y="18288"/>
                </a:cubicBezTo>
                <a:cubicBezTo>
                  <a:pt x="2947041" y="16687"/>
                  <a:pt x="2875741" y="22937"/>
                  <a:pt x="2609807" y="18288"/>
                </a:cubicBezTo>
                <a:cubicBezTo>
                  <a:pt x="2343873" y="13639"/>
                  <a:pt x="2331203" y="31729"/>
                  <a:pt x="2068749" y="18288"/>
                </a:cubicBezTo>
                <a:cubicBezTo>
                  <a:pt x="1806295" y="4847"/>
                  <a:pt x="1713773" y="47088"/>
                  <a:pt x="1432211" y="18288"/>
                </a:cubicBezTo>
                <a:cubicBezTo>
                  <a:pt x="1150649" y="-10512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3268" y="4624"/>
                  <a:pt x="3183510" y="11191"/>
                  <a:pt x="3182691" y="18288"/>
                </a:cubicBezTo>
                <a:cubicBezTo>
                  <a:pt x="3026064" y="-10849"/>
                  <a:pt x="2775005" y="23067"/>
                  <a:pt x="2546153" y="18288"/>
                </a:cubicBezTo>
                <a:cubicBezTo>
                  <a:pt x="2317301" y="13509"/>
                  <a:pt x="2164351" y="-9884"/>
                  <a:pt x="1845961" y="18288"/>
                </a:cubicBezTo>
                <a:cubicBezTo>
                  <a:pt x="1527571" y="46460"/>
                  <a:pt x="1455006" y="5824"/>
                  <a:pt x="1304903" y="18288"/>
                </a:cubicBezTo>
                <a:cubicBezTo>
                  <a:pt x="1154800" y="30752"/>
                  <a:pt x="942107" y="-12056"/>
                  <a:pt x="604711" y="18288"/>
                </a:cubicBezTo>
                <a:cubicBezTo>
                  <a:pt x="267315" y="48632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AC9B3F-F0BB-DF7C-4339-1DFC75A995A3}"/>
              </a:ext>
            </a:extLst>
          </p:cNvPr>
          <p:cNvSpPr txBox="1"/>
          <p:nvPr/>
        </p:nvSpPr>
        <p:spPr>
          <a:xfrm>
            <a:off x="480060" y="2706624"/>
            <a:ext cx="5170932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>
                <a:solidFill>
                  <a:srgbClr val="7030A0"/>
                </a:solidFill>
              </a:rPr>
              <a:t>Observations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True Negative: 1102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True Positive: 16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False Negative: 20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False Positive: 24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1600"/>
            </a:br>
            <a:endParaRPr lang="en-US" sz="160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>
                <a:solidFill>
                  <a:srgbClr val="7030A0"/>
                </a:solidFill>
              </a:rPr>
              <a:t>Key Insights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err="1"/>
              <a:t>CatBoost</a:t>
            </a:r>
            <a:r>
              <a:rPr lang="en-US" sz="1600"/>
              <a:t> identifies bankruptcy cases better than traditional linear models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More reliable for separating high-risk vs. low-risk firms</a:t>
            </a:r>
          </a:p>
        </p:txBody>
      </p:sp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F38A5A1B-C680-D187-E521-521839589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851192"/>
            <a:ext cx="3010662" cy="2385950"/>
          </a:xfrm>
          <a:prstGeom prst="rect">
            <a:avLst/>
          </a:prstGeom>
        </p:spPr>
      </p:pic>
      <p:pic>
        <p:nvPicPr>
          <p:cNvPr id="4" name="Picture 3" descr="A blue box with white text&#10;&#10;AI-generated content may be incorrect.">
            <a:extLst>
              <a:ext uri="{FF2B5EF4-FFF2-40B4-BE49-F238E27FC236}">
                <a16:creationId xmlns:a16="http://schemas.microsoft.com/office/drawing/2014/main" id="{696E67A7-77D3-0897-B573-32D79D5CB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856041"/>
            <a:ext cx="2996946" cy="23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576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7A45F0-9DB8-0003-F1D0-AEB35D279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DD16C-88DF-FB5E-83D6-07608A3C3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1" y="640080"/>
            <a:ext cx="4655389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200">
                <a:solidFill>
                  <a:srgbClr val="667EEA"/>
                </a:solidFill>
              </a:rPr>
              <a:t>Model 5 -  </a:t>
            </a:r>
            <a:r>
              <a:rPr lang="en-US" sz="4200" err="1">
                <a:solidFill>
                  <a:srgbClr val="667EEA"/>
                </a:solidFill>
              </a:rPr>
              <a:t>XG</a:t>
            </a:r>
            <a:r>
              <a:rPr lang="en-US" sz="4200">
                <a:solidFill>
                  <a:srgbClr val="667EEA"/>
                </a:solidFill>
              </a:rPr>
              <a:t> boost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CF3033-C42B-A284-0635-BF89F78CE0D8}"/>
              </a:ext>
            </a:extLst>
          </p:cNvPr>
          <p:cNvSpPr txBox="1"/>
          <p:nvPr/>
        </p:nvSpPr>
        <p:spPr>
          <a:xfrm>
            <a:off x="473202" y="2660904"/>
            <a:ext cx="3614166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000" err="1"/>
              <a:t>XGBoost</a:t>
            </a:r>
            <a:r>
              <a:rPr lang="en-US" sz="1000"/>
              <a:t> (Extreme Gradient Boosting) is a powerful ensemble model that builds many small decision trees and combines them to make a strong predictor.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It is designed for speed, performance, and handling complex patterns in tabular datasets like financial data.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000" b="1">
                <a:solidFill>
                  <a:srgbClr val="7030A0"/>
                </a:solidFill>
              </a:rPr>
              <a:t>Why did I use </a:t>
            </a:r>
            <a:r>
              <a:rPr lang="en-US" sz="1000" b="1" err="1">
                <a:solidFill>
                  <a:srgbClr val="7030A0"/>
                </a:solidFill>
              </a:rPr>
              <a:t>Xgboost</a:t>
            </a:r>
            <a:r>
              <a:rPr lang="en-US" sz="1000" b="1">
                <a:solidFill>
                  <a:srgbClr val="7030A0"/>
                </a:solidFill>
              </a:rPr>
              <a:t> for this dataset?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The dataset is tabular, with many numeric financial ratios → </a:t>
            </a:r>
            <a:r>
              <a:rPr lang="en-US" sz="1000" err="1"/>
              <a:t>XGBoost</a:t>
            </a:r>
            <a:r>
              <a:rPr lang="en-US" sz="1000"/>
              <a:t> is known to work extremely well on this type of data.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It can naturally handle non-linear relationships and feature interactions between financial indicators.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It doesn’t require feature scaling, so it fits nicely after my median-imputation and cleaning pipeline.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The target is imbalanced (very few bankrupt firms), and tree-based models like </a:t>
            </a:r>
            <a:r>
              <a:rPr lang="en-US" sz="1000" err="1"/>
              <a:t>XGBoost</a:t>
            </a:r>
            <a:r>
              <a:rPr lang="en-US" sz="1000"/>
              <a:t> often remain stable when trained on SMOTE-balanced data.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err="1"/>
              <a:t>XGBoost</a:t>
            </a:r>
            <a:r>
              <a:rPr lang="en-US" sz="1000"/>
              <a:t> provides feature importance, which helps explain </a:t>
            </a:r>
            <a:r>
              <a:rPr lang="en-US" sz="1000" i="1"/>
              <a:t>which</a:t>
            </a:r>
            <a:r>
              <a:rPr lang="en-US" sz="1000"/>
              <a:t> financial ratios drive bankruptcy risk (good for interpretation in a project).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900" b="1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9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E0ABAE-E9EA-7710-C5ED-793BFB053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572" y="2182022"/>
            <a:ext cx="4094226" cy="333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19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E604F-4A57-6C2B-FE33-E0E4F2E0B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8A0E-39AF-E3D2-7D73-4984DBE8E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40"/>
            <a:ext cx="8263890" cy="63179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/>
              <a:t>    Observations of </a:t>
            </a:r>
            <a:r>
              <a:rPr lang="en-US" sz="4700" err="1"/>
              <a:t>XGBoost</a:t>
            </a:r>
            <a:r>
              <a:rPr lang="en-US" sz="4700"/>
              <a:t>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C7739F-BD25-E9CA-9F6F-743E8C615F87}"/>
              </a:ext>
            </a:extLst>
          </p:cNvPr>
          <p:cNvSpPr txBox="1"/>
          <p:nvPr/>
        </p:nvSpPr>
        <p:spPr>
          <a:xfrm>
            <a:off x="142199" y="2547015"/>
            <a:ext cx="8097686" cy="50227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1900" b="1"/>
            </a:br>
            <a:endParaRPr lang="en-US" sz="1900" b="1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900" b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958C26-73BC-96E4-E4B6-5566CA6DFA95}"/>
              </a:ext>
            </a:extLst>
          </p:cNvPr>
          <p:cNvSpPr/>
          <p:nvPr/>
        </p:nvSpPr>
        <p:spPr>
          <a:xfrm>
            <a:off x="673646" y="1769525"/>
            <a:ext cx="7733398" cy="303929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/>
              <a:t>				Metrics (Test Set)</a:t>
            </a:r>
          </a:p>
          <a:p>
            <a:endParaRPr lang="en-US" sz="3600"/>
          </a:p>
          <a:p>
            <a:endParaRPr lang="en-US" sz="2400">
              <a:solidFill>
                <a:schemeClr val="tx2">
                  <a:lumMod val="75000"/>
                </a:schemeClr>
              </a:solidFill>
            </a:endParaRPr>
          </a:p>
          <a:p>
            <a:endParaRPr lang="en-US" sz="2400">
              <a:solidFill>
                <a:schemeClr val="tx2">
                  <a:lumMod val="75000"/>
                </a:schemeClr>
              </a:solidFill>
            </a:endParaRPr>
          </a:p>
          <a:p>
            <a:endParaRPr lang="en-US" sz="2400">
              <a:solidFill>
                <a:schemeClr val="tx2">
                  <a:lumMod val="75000"/>
                </a:schemeClr>
              </a:solidFill>
            </a:endParaRPr>
          </a:p>
          <a:p>
            <a:endParaRPr lang="en-US" sz="240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endParaRPr lang="en-US" sz="235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B5230C-64CF-F093-2774-7679F3637E8F}"/>
              </a:ext>
            </a:extLst>
          </p:cNvPr>
          <p:cNvGrpSpPr/>
          <p:nvPr/>
        </p:nvGrpSpPr>
        <p:grpSpPr>
          <a:xfrm>
            <a:off x="6378762" y="3613268"/>
            <a:ext cx="360" cy="360"/>
            <a:chOff x="6378762" y="3613268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B7AA2D1-7A69-461F-C5D0-DB6EB6AF2F09}"/>
                    </a:ext>
                  </a:extLst>
                </p14:cNvPr>
                <p14:cNvContentPartPr/>
                <p14:nvPr/>
              </p14:nvContentPartPr>
              <p14:xfrm>
                <a:off x="6378762" y="3613268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B7AA2D1-7A69-461F-C5D0-DB6EB6AF2F0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69762" y="36042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66F359F-0D49-1ECD-12BF-0CC7546E49D1}"/>
                    </a:ext>
                  </a:extLst>
                </p14:cNvPr>
                <p14:cNvContentPartPr/>
                <p14:nvPr/>
              </p14:nvContentPartPr>
              <p14:xfrm>
                <a:off x="6378762" y="3613268"/>
                <a:ext cx="36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66F359F-0D49-1ECD-12BF-0CC7546E49D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69762" y="36042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04715C6-A212-6697-2766-8D25B2165BFB}"/>
                    </a:ext>
                  </a:extLst>
                </p14:cNvPr>
                <p14:cNvContentPartPr/>
                <p14:nvPr/>
              </p14:nvContentPartPr>
              <p14:xfrm>
                <a:off x="6378762" y="3613268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04715C6-A212-6697-2766-8D25B2165BF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69762" y="36042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67C249A-65CD-6AF5-E9EB-99DC6FEC98A9}"/>
              </a:ext>
            </a:extLst>
          </p:cNvPr>
          <p:cNvGrpSpPr/>
          <p:nvPr/>
        </p:nvGrpSpPr>
        <p:grpSpPr>
          <a:xfrm>
            <a:off x="5133882" y="3635228"/>
            <a:ext cx="360" cy="360"/>
            <a:chOff x="5133882" y="3635228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31F9251-928E-5A26-6B36-0BEA1B828A76}"/>
                    </a:ext>
                  </a:extLst>
                </p14:cNvPr>
                <p14:cNvContentPartPr/>
                <p14:nvPr/>
              </p14:nvContentPartPr>
              <p14:xfrm>
                <a:off x="5133882" y="3635228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31F9251-928E-5A26-6B36-0BEA1B828A7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124882" y="36262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690439D-B270-A7E5-F564-3F82DBC326A0}"/>
                    </a:ext>
                  </a:extLst>
                </p14:cNvPr>
                <p14:cNvContentPartPr/>
                <p14:nvPr/>
              </p14:nvContentPartPr>
              <p14:xfrm>
                <a:off x="5133882" y="3635228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690439D-B270-A7E5-F564-3F82DBC326A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124882" y="36262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A450EA2-04C9-8C01-BBAC-B6444C084D25}"/>
                  </a:ext>
                </a:extLst>
              </p14:cNvPr>
              <p14:cNvContentPartPr/>
              <p14:nvPr/>
            </p14:nvContentPartPr>
            <p14:xfrm>
              <a:off x="4186362" y="3448028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A450EA2-04C9-8C01-BBAC-B6444C084D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7362" y="343902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A05AB68C-3685-DBF1-BACD-CFE0C92411D3}"/>
              </a:ext>
            </a:extLst>
          </p:cNvPr>
          <p:cNvSpPr/>
          <p:nvPr/>
        </p:nvSpPr>
        <p:spPr>
          <a:xfrm>
            <a:off x="467193" y="2530428"/>
            <a:ext cx="2479806" cy="1342764"/>
          </a:xfrm>
          <a:prstGeom prst="rect">
            <a:avLst/>
          </a:prstGeom>
          <a:solidFill>
            <a:srgbClr val="000000">
              <a:alpha val="5000"/>
            </a:srgbClr>
          </a:solidFill>
          <a:ln w="126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2">
                    <a:lumMod val="75000"/>
                  </a:schemeClr>
                </a:solidFill>
              </a:rPr>
              <a:t>     Accuracy: 96.90%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60751CE-F0F6-2887-6E1E-193D20C7580F}"/>
                  </a:ext>
                </a:extLst>
              </p14:cNvPr>
              <p14:cNvContentPartPr/>
              <p14:nvPr/>
            </p14:nvContentPartPr>
            <p14:xfrm>
              <a:off x="7568310" y="4274414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60751CE-F0F6-2887-6E1E-193D20C7580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62190" y="4268294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25BC685D-E2C2-3B7C-E501-0649B6798F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53452" y="2505221"/>
            <a:ext cx="2479806" cy="148479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E0B300D-578E-4E89-3822-333D5124238C}"/>
              </a:ext>
            </a:extLst>
          </p:cNvPr>
          <p:cNvSpPr txBox="1"/>
          <p:nvPr/>
        </p:nvSpPr>
        <p:spPr>
          <a:xfrm>
            <a:off x="3478446" y="2816420"/>
            <a:ext cx="202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2">
                    <a:lumMod val="75000"/>
                  </a:schemeClr>
                </a:solidFill>
              </a:rPr>
              <a:t>Precision(Bankrupt=1):54.76%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D70249-3B71-E5DA-2252-181459665DF6}"/>
              </a:ext>
            </a:extLst>
          </p:cNvPr>
          <p:cNvSpPr/>
          <p:nvPr/>
        </p:nvSpPr>
        <p:spPr>
          <a:xfrm>
            <a:off x="5812098" y="2528158"/>
            <a:ext cx="2416105" cy="1408779"/>
          </a:xfrm>
          <a:prstGeom prst="rect">
            <a:avLst/>
          </a:prstGeom>
          <a:solidFill>
            <a:srgbClr val="000000">
              <a:alpha val="5000"/>
            </a:srgbClr>
          </a:solidFill>
          <a:ln w="126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2">
                    <a:lumMod val="75000"/>
                  </a:schemeClr>
                </a:solidFill>
              </a:rPr>
              <a:t>            </a:t>
            </a:r>
            <a:r>
              <a:rPr lang="en-US" b="1">
                <a:solidFill>
                  <a:schemeClr val="tx2">
                    <a:lumMod val="75000"/>
                  </a:schemeClr>
                </a:solidFill>
              </a:rPr>
              <a:t>Recall : 70%.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92BA2E-69C0-3274-156A-B820635FFE54}"/>
              </a:ext>
            </a:extLst>
          </p:cNvPr>
          <p:cNvSpPr/>
          <p:nvPr/>
        </p:nvSpPr>
        <p:spPr>
          <a:xfrm>
            <a:off x="1948507" y="4166949"/>
            <a:ext cx="2444848" cy="1554504"/>
          </a:xfrm>
          <a:prstGeom prst="rect">
            <a:avLst/>
          </a:prstGeom>
          <a:solidFill>
            <a:srgbClr val="000000">
              <a:alpha val="5000"/>
            </a:srgbClr>
          </a:solidFill>
          <a:ln w="126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2">
                    <a:lumMod val="75000"/>
                  </a:schemeClr>
                </a:solidFill>
              </a:rPr>
              <a:t>     F1 - Score: 56.57%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CAB564-08C5-5C62-085C-748843CC7C17}"/>
              </a:ext>
            </a:extLst>
          </p:cNvPr>
          <p:cNvSpPr/>
          <p:nvPr/>
        </p:nvSpPr>
        <p:spPr>
          <a:xfrm>
            <a:off x="4656193" y="4161450"/>
            <a:ext cx="2444848" cy="1553784"/>
          </a:xfrm>
          <a:prstGeom prst="rect">
            <a:avLst/>
          </a:prstGeom>
          <a:solidFill>
            <a:srgbClr val="000000">
              <a:alpha val="5000"/>
            </a:srgbClr>
          </a:solidFill>
          <a:ln w="126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2">
                    <a:lumMod val="75000"/>
                  </a:schemeClr>
                </a:solidFill>
              </a:rPr>
              <a:t>     </a:t>
            </a:r>
            <a:r>
              <a:rPr lang="en-US" b="1">
                <a:solidFill>
                  <a:schemeClr val="tx2">
                    <a:lumMod val="75000"/>
                  </a:schemeClr>
                </a:solidFill>
              </a:rPr>
              <a:t>ROC-AUC : 94.41%</a:t>
            </a:r>
          </a:p>
        </p:txBody>
      </p:sp>
    </p:spTree>
    <p:extLst>
      <p:ext uri="{BB962C8B-B14F-4D97-AF65-F5344CB8AC3E}">
        <p14:creationId xmlns:p14="http://schemas.microsoft.com/office/powerpoint/2010/main" val="3116785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07E80-2A0C-1DD7-BBB6-90820B0EC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E6B6D-5691-F25E-B9B5-F3BC4E774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73094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/>
              <a:t>Confusion Matrix and ROC curve.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2FDA95-F4DD-66A4-E19F-FA3D89B41983}"/>
              </a:ext>
            </a:extLst>
          </p:cNvPr>
          <p:cNvSpPr txBox="1"/>
          <p:nvPr/>
        </p:nvSpPr>
        <p:spPr>
          <a:xfrm>
            <a:off x="429369" y="1167788"/>
            <a:ext cx="8097686" cy="50227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9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219EF7-D1D3-1241-C567-9A547B521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504950"/>
              </p:ext>
            </p:extLst>
          </p:nvPr>
        </p:nvGraphicFramePr>
        <p:xfrm>
          <a:off x="450741" y="1240403"/>
          <a:ext cx="8076314" cy="4751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157">
                  <a:extLst>
                    <a:ext uri="{9D8B030D-6E8A-4147-A177-3AD203B41FA5}">
                      <a16:colId xmlns:a16="http://schemas.microsoft.com/office/drawing/2014/main" val="3969260402"/>
                    </a:ext>
                  </a:extLst>
                </a:gridCol>
                <a:gridCol w="4038157">
                  <a:extLst>
                    <a:ext uri="{9D8B030D-6E8A-4147-A177-3AD203B41FA5}">
                      <a16:colId xmlns:a16="http://schemas.microsoft.com/office/drawing/2014/main" val="907425520"/>
                    </a:ext>
                  </a:extLst>
                </a:gridCol>
              </a:tblGrid>
              <a:tr h="475177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964451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92799250-B7B0-2A47-85DD-92A28B086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45" y="1498294"/>
            <a:ext cx="3708953" cy="39627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DD0628-A208-1236-1592-E43E1A836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888" y="1498294"/>
            <a:ext cx="3815267" cy="396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154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44E3C1-4D36-1EC0-19AA-45B8EF5BE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771D4A-0638-2393-C88A-31C6A3989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>
                <a:solidFill>
                  <a:srgbClr val="667EEA"/>
                </a:solidFill>
              </a:rPr>
              <a:t>Model 6 – Naïve Bayes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8098B-7D22-3259-32E7-336DE1B3D25D}"/>
              </a:ext>
            </a:extLst>
          </p:cNvPr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900" b="1">
                <a:solidFill>
                  <a:srgbClr val="7030A0"/>
                </a:solidFill>
              </a:rPr>
              <a:t>Model Details</a:t>
            </a:r>
            <a:endParaRPr lang="en-US" sz="1900">
              <a:solidFill>
                <a:srgbClr val="7030A0"/>
              </a:solidFill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Used </a:t>
            </a:r>
            <a:r>
              <a:rPr lang="en-US" sz="1900" b="1"/>
              <a:t>Gaussian Naïve Bayes</a:t>
            </a:r>
            <a:r>
              <a:rPr lang="en-US" sz="1900"/>
              <a:t> as baseline probabilistic classifier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Features were scaled using </a:t>
            </a:r>
            <a:r>
              <a:rPr lang="en-US" sz="1900" i="1" err="1"/>
              <a:t>StandardScaler</a:t>
            </a:r>
            <a:endParaRPr lang="en-US" sz="190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Works well for </a:t>
            </a:r>
            <a:r>
              <a:rPr lang="en-US" sz="1900" b="1"/>
              <a:t>high-dimensional tabular data</a:t>
            </a:r>
            <a:r>
              <a:rPr lang="en-US" sz="1900"/>
              <a:t> and low training time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Assumes </a:t>
            </a:r>
            <a:r>
              <a:rPr lang="en-US" sz="1900" b="1"/>
              <a:t>feature independence</a:t>
            </a:r>
            <a:r>
              <a:rPr lang="en-US" sz="1900"/>
              <a:t> (Naïve assumption)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900" b="1">
                <a:solidFill>
                  <a:srgbClr val="7030A0"/>
                </a:solidFill>
              </a:rPr>
              <a:t>Why NB?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Very fast to train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Good baseline to compare with more complex models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Often performs well even with limited data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Interpretable probability-based predictions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839065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1C7AC-70C0-C9A9-CF72-84407F897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B9017-62C9-1DDF-9B03-033C8F6CB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064"/>
            <a:ext cx="8229600" cy="1143000"/>
          </a:xfrm>
        </p:spPr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rPr lang="en-US" sz="4700">
                <a:solidFill>
                  <a:srgbClr val="667EEA"/>
                </a:solidFill>
              </a:rPr>
              <a:t>Naïve Bayes</a:t>
            </a:r>
            <a:r>
              <a:rPr sz="4700">
                <a:solidFill>
                  <a:srgbClr val="667EEA"/>
                </a:solidFill>
              </a:rPr>
              <a:t> Model Performance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91E78F-835F-279D-A97F-215F7F4CC723}"/>
              </a:ext>
            </a:extLst>
          </p:cNvPr>
          <p:cNvSpPr/>
          <p:nvPr/>
        </p:nvSpPr>
        <p:spPr>
          <a:xfrm>
            <a:off x="742951" y="1417638"/>
            <a:ext cx="1785938" cy="842963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 sz="2500"/>
              <a:t>42.60</a:t>
            </a:r>
            <a:r>
              <a:rPr sz="2500"/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C7BCD9-798E-9DFC-2F19-8A78F6F57608}"/>
              </a:ext>
            </a:extLst>
          </p:cNvPr>
          <p:cNvSpPr/>
          <p:nvPr/>
        </p:nvSpPr>
        <p:spPr>
          <a:xfrm>
            <a:off x="2643189" y="2338387"/>
            <a:ext cx="1785938" cy="842963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 sz="2500"/>
              <a:t>05.02</a:t>
            </a:r>
            <a:r>
              <a:rPr sz="2500"/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lang="en-US"/>
              <a:t>Precision</a:t>
            </a: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73C8EC-10C9-588C-8403-EF50F6374CE8}"/>
              </a:ext>
            </a:extLst>
          </p:cNvPr>
          <p:cNvSpPr/>
          <p:nvPr/>
        </p:nvSpPr>
        <p:spPr>
          <a:xfrm>
            <a:off x="742951" y="3565524"/>
            <a:ext cx="1785938" cy="842963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 sz="2500"/>
              <a:t>87.50</a:t>
            </a:r>
            <a:r>
              <a:rPr sz="2500"/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lang="en-US"/>
              <a:t>Recall</a:t>
            </a: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EC7096-CE69-4A15-9605-98288C545077}"/>
              </a:ext>
            </a:extLst>
          </p:cNvPr>
          <p:cNvSpPr/>
          <p:nvPr/>
        </p:nvSpPr>
        <p:spPr>
          <a:xfrm>
            <a:off x="2643189" y="4762498"/>
            <a:ext cx="1785938" cy="842963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 sz="2500"/>
              <a:t>80.54</a:t>
            </a:r>
            <a:r>
              <a:rPr sz="2500"/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lang="en-US"/>
              <a:t>ROC-AUC</a:t>
            </a: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DF3EBE-7CF6-5F8E-BC39-0C6605674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6745" y="1247775"/>
            <a:ext cx="2749252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E0B1F80-B37B-1615-450C-A259AFB26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638" y="3806029"/>
            <a:ext cx="3221467" cy="255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563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AAEAA-5541-E277-6C13-C26321366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422A-5554-AD9F-049C-5D7007FB1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8288" y="-114300"/>
            <a:ext cx="4527423" cy="7155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3000"/>
              <a:t>NB Other Models</a:t>
            </a:r>
            <a:endParaRPr lang="en-US" sz="3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DFC557-FF37-FCB7-7F47-9505F6A15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11" y="601229"/>
            <a:ext cx="2863788" cy="983091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2D0F027-55BE-7433-7C10-6AE56133D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11" y="1584320"/>
            <a:ext cx="2799918" cy="208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A092E3-51DF-FC40-3A72-8F9CFAF33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105" y="601229"/>
            <a:ext cx="2863788" cy="997742"/>
          </a:xfrm>
          <a:prstGeom prst="rect">
            <a:avLst/>
          </a:prstGeom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DCB3E1BD-ACA5-B46D-ABB0-7BFCD4356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105" y="1598971"/>
            <a:ext cx="2799918" cy="208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3E8C4-6A6C-F200-E24C-F447AD54B1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1199" y="600473"/>
            <a:ext cx="2863788" cy="999255"/>
          </a:xfrm>
          <a:prstGeom prst="rect">
            <a:avLst/>
          </a:prstGeom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1948F9FD-CA3A-2E51-0783-D775D5F57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903" y="1598971"/>
            <a:ext cx="2799918" cy="208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919FD1-138B-81EE-3E25-D0107099C4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307" y="3679732"/>
            <a:ext cx="2799918" cy="1034154"/>
          </a:xfrm>
          <a:prstGeom prst="rect">
            <a:avLst/>
          </a:prstGeom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796CC199-1F48-E194-A818-376E4297B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07" y="4777239"/>
            <a:ext cx="2799918" cy="208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DBEFEE-C0D8-4DA5-C82B-CE5F21D896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40105" y="3679732"/>
            <a:ext cx="3144543" cy="1097507"/>
          </a:xfrm>
          <a:prstGeom prst="rect">
            <a:avLst/>
          </a:prstGeom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304019E2-6E8D-66FE-C28A-38B6481DB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17" y="4777239"/>
            <a:ext cx="2799918" cy="208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E68066E1-E62E-6EDC-A50B-F9E435E70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647" y="4088508"/>
            <a:ext cx="2824727" cy="234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184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86B11-8A97-7277-1F89-0A5FA8A3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5D7514-E4A2-52D6-9E6B-9D5C7FC4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>
                <a:solidFill>
                  <a:srgbClr val="667EEA"/>
                </a:solidFill>
              </a:rPr>
              <a:t>Model 7 –Random Forest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31E2B4-6117-B4E3-EBAB-7BB0BDEB84BE}"/>
              </a:ext>
            </a:extLst>
          </p:cNvPr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900" b="1">
                <a:solidFill>
                  <a:srgbClr val="7030A0"/>
                </a:solidFill>
              </a:rPr>
              <a:t>Model Details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/>
              <a:t>Random Forest Classifier</a:t>
            </a:r>
            <a:r>
              <a:rPr lang="en-US" sz="1900"/>
              <a:t> with 100 trees (default)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Handles </a:t>
            </a:r>
            <a:r>
              <a:rPr lang="en-US" sz="1900" b="1"/>
              <a:t>high-dimensional</a:t>
            </a:r>
            <a:r>
              <a:rPr lang="en-US" sz="1900"/>
              <a:t>, </a:t>
            </a:r>
            <a:r>
              <a:rPr lang="en-US" sz="1900" b="1"/>
              <a:t>non-linear</a:t>
            </a:r>
            <a:r>
              <a:rPr lang="en-US" sz="1900"/>
              <a:t>, and </a:t>
            </a:r>
            <a:r>
              <a:rPr lang="en-US" sz="1900" b="1"/>
              <a:t>imbalanced</a:t>
            </a:r>
            <a:r>
              <a:rPr lang="en-US" sz="1900"/>
              <a:t> data well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Works well with SMOTE-balanced dataset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Captures complex interactions between financial indicators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Provides </a:t>
            </a:r>
            <a:r>
              <a:rPr lang="en-US" sz="1900" b="1"/>
              <a:t>feature importance</a:t>
            </a:r>
            <a:r>
              <a:rPr lang="en-US" sz="1900"/>
              <a:t>, useful for bankruptcy interpretation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/>
          </a:p>
          <a:p>
            <a:pPr defTabSz="914400">
              <a:lnSpc>
                <a:spcPct val="90000"/>
              </a:lnSpc>
            </a:pPr>
            <a:r>
              <a:rPr lang="en-US" sz="1900" b="1">
                <a:solidFill>
                  <a:srgbClr val="7030A0"/>
                </a:solidFill>
              </a:rPr>
              <a:t>Why Random Forest?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Robust to noise and multicollinearity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Lower risk of overfitting than single decision trees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Naturally handles non-linear patterns common in financial ratios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Strong baseline model for tabular bankruptcy prediction tasks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/>
          </a:p>
          <a:p>
            <a:pPr marL="228600"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/>
          </a:p>
          <a:p>
            <a:pPr marL="0"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/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endParaRPr lang="en-US" sz="1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654E26-36AA-DDA7-5009-69740DDE7A80}"/>
              </a:ext>
            </a:extLst>
          </p:cNvPr>
          <p:cNvSpPr txBox="1"/>
          <p:nvPr/>
        </p:nvSpPr>
        <p:spPr>
          <a:xfrm>
            <a:off x="3955923" y="4283966"/>
            <a:ext cx="5070348" cy="18905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/>
          </a:p>
          <a:p>
            <a:pPr lvl="1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960558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F5544-933E-566D-AC8C-6E5BB62C8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CEA5-2CF6-DEF7-1FDF-8BB2ADD4F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667EEA"/>
                </a:solidFill>
              </a:defRPr>
            </a:pPr>
            <a:r>
              <a:rPr lang="en-US" sz="4700">
                <a:solidFill>
                  <a:srgbClr val="667EEA"/>
                </a:solidFill>
              </a:rPr>
              <a:t>RF </a:t>
            </a:r>
            <a:r>
              <a:rPr sz="4700">
                <a:solidFill>
                  <a:srgbClr val="667EEA"/>
                </a:solidFill>
              </a:rPr>
              <a:t>Model Performance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B5FEA1-B0F5-D700-7C4F-CBC370AFD467}"/>
              </a:ext>
            </a:extLst>
          </p:cNvPr>
          <p:cNvSpPr/>
          <p:nvPr/>
        </p:nvSpPr>
        <p:spPr>
          <a:xfrm>
            <a:off x="742951" y="1417638"/>
            <a:ext cx="1785938" cy="842963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 sz="2500"/>
              <a:t>96.56</a:t>
            </a:r>
            <a:r>
              <a:rPr sz="2500"/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483D03-CE11-8D54-C45C-049DDDBB4EE8}"/>
              </a:ext>
            </a:extLst>
          </p:cNvPr>
          <p:cNvSpPr/>
          <p:nvPr/>
        </p:nvSpPr>
        <p:spPr>
          <a:xfrm>
            <a:off x="2643189" y="2468562"/>
            <a:ext cx="1785938" cy="842963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 sz="2500"/>
              <a:t>50.00</a:t>
            </a:r>
            <a:r>
              <a:rPr sz="2500"/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lang="en-US"/>
              <a:t>Precision</a:t>
            </a: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1B5E96-0ECC-6008-F984-D7E4FE72227D}"/>
              </a:ext>
            </a:extLst>
          </p:cNvPr>
          <p:cNvSpPr/>
          <p:nvPr/>
        </p:nvSpPr>
        <p:spPr>
          <a:xfrm>
            <a:off x="742951" y="3565524"/>
            <a:ext cx="1785938" cy="842963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 sz="2500"/>
              <a:t>67.50</a:t>
            </a:r>
            <a:r>
              <a:rPr sz="2500"/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lang="en-US"/>
              <a:t>Recall</a:t>
            </a: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9B6358-EB7B-8862-ACC7-7423A23CBEB6}"/>
              </a:ext>
            </a:extLst>
          </p:cNvPr>
          <p:cNvSpPr/>
          <p:nvPr/>
        </p:nvSpPr>
        <p:spPr>
          <a:xfrm>
            <a:off x="2643189" y="4762498"/>
            <a:ext cx="1785938" cy="842963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 sz="2500"/>
              <a:t>96.00</a:t>
            </a:r>
            <a:r>
              <a:rPr sz="2500"/>
              <a:t>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lang="en-US"/>
              <a:t>ROC-AUC</a:t>
            </a:r>
            <a:endParaRPr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DF38E9E-597E-3688-86EB-B53DC23E5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5" y="1810146"/>
            <a:ext cx="4346119" cy="323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966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A6697D-BB38-27D3-CBAA-55042A853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659E94-EE5E-8979-60E1-170CB7497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9184"/>
            <a:ext cx="5170932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/>
              <a:t>RF Evaluation</a:t>
            </a:r>
          </a:p>
        </p:txBody>
      </p:sp>
      <p:sp>
        <p:nvSpPr>
          <p:cNvPr id="410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214" y="2395728"/>
            <a:ext cx="3182691" cy="18288"/>
          </a:xfrm>
          <a:custGeom>
            <a:avLst/>
            <a:gdLst>
              <a:gd name="csX0" fmla="*/ 0 w 3182691"/>
              <a:gd name="csY0" fmla="*/ 0 h 18288"/>
              <a:gd name="csX1" fmla="*/ 636538 w 3182691"/>
              <a:gd name="csY1" fmla="*/ 0 h 18288"/>
              <a:gd name="csX2" fmla="*/ 1273076 w 3182691"/>
              <a:gd name="csY2" fmla="*/ 0 h 18288"/>
              <a:gd name="csX3" fmla="*/ 1909615 w 3182691"/>
              <a:gd name="csY3" fmla="*/ 0 h 18288"/>
              <a:gd name="csX4" fmla="*/ 2482499 w 3182691"/>
              <a:gd name="csY4" fmla="*/ 0 h 18288"/>
              <a:gd name="csX5" fmla="*/ 3182691 w 3182691"/>
              <a:gd name="csY5" fmla="*/ 0 h 18288"/>
              <a:gd name="csX6" fmla="*/ 3182691 w 3182691"/>
              <a:gd name="csY6" fmla="*/ 18288 h 18288"/>
              <a:gd name="csX7" fmla="*/ 2609807 w 3182691"/>
              <a:gd name="csY7" fmla="*/ 18288 h 18288"/>
              <a:gd name="csX8" fmla="*/ 2068749 w 3182691"/>
              <a:gd name="csY8" fmla="*/ 18288 h 18288"/>
              <a:gd name="csX9" fmla="*/ 1432211 w 3182691"/>
              <a:gd name="csY9" fmla="*/ 18288 h 18288"/>
              <a:gd name="csX10" fmla="*/ 859327 w 3182691"/>
              <a:gd name="csY10" fmla="*/ 18288 h 18288"/>
              <a:gd name="csX11" fmla="*/ 0 w 3182691"/>
              <a:gd name="csY11" fmla="*/ 18288 h 18288"/>
              <a:gd name="csX12" fmla="*/ 0 w 3182691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3133" y="4516"/>
                  <a:pt x="3181864" y="12266"/>
                  <a:pt x="3182691" y="18288"/>
                </a:cubicBezTo>
                <a:cubicBezTo>
                  <a:pt x="2947041" y="16687"/>
                  <a:pt x="2875741" y="22937"/>
                  <a:pt x="2609807" y="18288"/>
                </a:cubicBezTo>
                <a:cubicBezTo>
                  <a:pt x="2343873" y="13639"/>
                  <a:pt x="2331203" y="31729"/>
                  <a:pt x="2068749" y="18288"/>
                </a:cubicBezTo>
                <a:cubicBezTo>
                  <a:pt x="1806295" y="4847"/>
                  <a:pt x="1713773" y="47088"/>
                  <a:pt x="1432211" y="18288"/>
                </a:cubicBezTo>
                <a:cubicBezTo>
                  <a:pt x="1150649" y="-10512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3268" y="4624"/>
                  <a:pt x="3183510" y="11191"/>
                  <a:pt x="3182691" y="18288"/>
                </a:cubicBezTo>
                <a:cubicBezTo>
                  <a:pt x="3026064" y="-10849"/>
                  <a:pt x="2775005" y="23067"/>
                  <a:pt x="2546153" y="18288"/>
                </a:cubicBezTo>
                <a:cubicBezTo>
                  <a:pt x="2317301" y="13509"/>
                  <a:pt x="2164351" y="-9884"/>
                  <a:pt x="1845961" y="18288"/>
                </a:cubicBezTo>
                <a:cubicBezTo>
                  <a:pt x="1527571" y="46460"/>
                  <a:pt x="1455006" y="5824"/>
                  <a:pt x="1304903" y="18288"/>
                </a:cubicBezTo>
                <a:cubicBezTo>
                  <a:pt x="1154800" y="30752"/>
                  <a:pt x="942107" y="-12056"/>
                  <a:pt x="604711" y="18288"/>
                </a:cubicBezTo>
                <a:cubicBezTo>
                  <a:pt x="267315" y="48632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7564D5-5D5E-6303-8295-DE0720119160}"/>
              </a:ext>
            </a:extLst>
          </p:cNvPr>
          <p:cNvSpPr txBox="1"/>
          <p:nvPr/>
        </p:nvSpPr>
        <p:spPr>
          <a:xfrm>
            <a:off x="480060" y="2706624"/>
            <a:ext cx="5170932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>
                <a:solidFill>
                  <a:srgbClr val="7030A0"/>
                </a:solidFill>
              </a:rPr>
              <a:t>Observations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True Negative : 1317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True Positive: 5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False Negative: 35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False Positive: 7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1600"/>
            </a:br>
            <a:endParaRPr lang="en-US" sz="1600">
              <a:solidFill>
                <a:srgbClr val="7030A0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>
                <a:solidFill>
                  <a:srgbClr val="7030A0"/>
                </a:solidFill>
              </a:rPr>
              <a:t>Key Insights</a:t>
            </a:r>
          </a:p>
          <a:p>
            <a:pPr marL="34290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/>
              <a:t>Detects non-bankrupt firms extremely well.</a:t>
            </a:r>
          </a:p>
          <a:p>
            <a:pPr marL="34290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/>
              <a:t>Bankrupt detection improved compared to NB, but still challenging due to class imbalance.</a:t>
            </a:r>
          </a:p>
          <a:p>
            <a:pPr marL="34290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/>
              <a:t>False negatives (35) still exist → some bankrupt companies are misclassified as safe.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149F89FA-458B-2D5B-0F31-533355299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7880" y="527461"/>
            <a:ext cx="3010662" cy="303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BD31731C-1A8A-861F-C20F-2A5D9ADB3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23311" y="4079193"/>
            <a:ext cx="2746084" cy="21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6711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26FD3-C3A2-E3CE-C50D-FAAF95620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A7A59-9D99-7D8F-2102-D372189FD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365125"/>
            <a:ext cx="3971261" cy="20638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4000">
                <a:solidFill>
                  <a:srgbClr val="667EEA"/>
                </a:solidFill>
              </a:defRPr>
            </a:pPr>
            <a:r>
              <a:rPr lang="en-US" sz="4700"/>
              <a:t>Conclusion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2650181"/>
            <a:ext cx="3257550" cy="18288"/>
          </a:xfrm>
          <a:custGeom>
            <a:avLst/>
            <a:gdLst>
              <a:gd name="csX0" fmla="*/ 0 w 3257550"/>
              <a:gd name="csY0" fmla="*/ 0 h 18288"/>
              <a:gd name="csX1" fmla="*/ 618935 w 3257550"/>
              <a:gd name="csY1" fmla="*/ 0 h 18288"/>
              <a:gd name="csX2" fmla="*/ 1270445 w 3257550"/>
              <a:gd name="csY2" fmla="*/ 0 h 18288"/>
              <a:gd name="csX3" fmla="*/ 1954530 w 3257550"/>
              <a:gd name="csY3" fmla="*/ 0 h 18288"/>
              <a:gd name="csX4" fmla="*/ 2638616 w 3257550"/>
              <a:gd name="csY4" fmla="*/ 0 h 18288"/>
              <a:gd name="csX5" fmla="*/ 3257550 w 3257550"/>
              <a:gd name="csY5" fmla="*/ 0 h 18288"/>
              <a:gd name="csX6" fmla="*/ 3257550 w 3257550"/>
              <a:gd name="csY6" fmla="*/ 18288 h 18288"/>
              <a:gd name="csX7" fmla="*/ 2540889 w 3257550"/>
              <a:gd name="csY7" fmla="*/ 18288 h 18288"/>
              <a:gd name="csX8" fmla="*/ 1824228 w 3257550"/>
              <a:gd name="csY8" fmla="*/ 18288 h 18288"/>
              <a:gd name="csX9" fmla="*/ 1172718 w 3257550"/>
              <a:gd name="csY9" fmla="*/ 18288 h 18288"/>
              <a:gd name="csX10" fmla="*/ 0 w 3257550"/>
              <a:gd name="csY10" fmla="*/ 18288 h 18288"/>
              <a:gd name="csX11" fmla="*/ 0 w 3257550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7550" h="18288" fill="none" extrusionOk="0">
                <a:moveTo>
                  <a:pt x="0" y="0"/>
                </a:moveTo>
                <a:cubicBezTo>
                  <a:pt x="222571" y="-4581"/>
                  <a:pt x="395946" y="-20429"/>
                  <a:pt x="618935" y="0"/>
                </a:cubicBezTo>
                <a:cubicBezTo>
                  <a:pt x="841925" y="20429"/>
                  <a:pt x="1064831" y="-497"/>
                  <a:pt x="1270445" y="0"/>
                </a:cubicBezTo>
                <a:cubicBezTo>
                  <a:pt x="1476059" y="497"/>
                  <a:pt x="1673547" y="428"/>
                  <a:pt x="1954530" y="0"/>
                </a:cubicBezTo>
                <a:cubicBezTo>
                  <a:pt x="2235513" y="-428"/>
                  <a:pt x="2452407" y="27906"/>
                  <a:pt x="2638616" y="0"/>
                </a:cubicBezTo>
                <a:cubicBezTo>
                  <a:pt x="2824825" y="-27906"/>
                  <a:pt x="3043878" y="-22618"/>
                  <a:pt x="3257550" y="0"/>
                </a:cubicBezTo>
                <a:cubicBezTo>
                  <a:pt x="3256841" y="8157"/>
                  <a:pt x="3257137" y="12125"/>
                  <a:pt x="3257550" y="18288"/>
                </a:cubicBezTo>
                <a:cubicBezTo>
                  <a:pt x="2955505" y="29918"/>
                  <a:pt x="2697243" y="41720"/>
                  <a:pt x="2540889" y="18288"/>
                </a:cubicBezTo>
                <a:cubicBezTo>
                  <a:pt x="2384535" y="-5144"/>
                  <a:pt x="2114539" y="6231"/>
                  <a:pt x="1824228" y="18288"/>
                </a:cubicBezTo>
                <a:cubicBezTo>
                  <a:pt x="1533917" y="30345"/>
                  <a:pt x="1462450" y="24037"/>
                  <a:pt x="1172718" y="18288"/>
                </a:cubicBezTo>
                <a:cubicBezTo>
                  <a:pt x="882986" y="12540"/>
                  <a:pt x="500637" y="24492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7550" h="18288" stroke="0" extrusionOk="0">
                <a:moveTo>
                  <a:pt x="0" y="0"/>
                </a:moveTo>
                <a:cubicBezTo>
                  <a:pt x="278434" y="16845"/>
                  <a:pt x="441207" y="-24568"/>
                  <a:pt x="618935" y="0"/>
                </a:cubicBezTo>
                <a:cubicBezTo>
                  <a:pt x="796663" y="24568"/>
                  <a:pt x="985120" y="5689"/>
                  <a:pt x="1172718" y="0"/>
                </a:cubicBezTo>
                <a:cubicBezTo>
                  <a:pt x="1360316" y="-5689"/>
                  <a:pt x="1666432" y="29765"/>
                  <a:pt x="1889379" y="0"/>
                </a:cubicBezTo>
                <a:cubicBezTo>
                  <a:pt x="2112326" y="-29765"/>
                  <a:pt x="2378171" y="13184"/>
                  <a:pt x="2508314" y="0"/>
                </a:cubicBezTo>
                <a:cubicBezTo>
                  <a:pt x="2638457" y="-13184"/>
                  <a:pt x="2897393" y="-18048"/>
                  <a:pt x="3257550" y="0"/>
                </a:cubicBezTo>
                <a:cubicBezTo>
                  <a:pt x="3257286" y="4493"/>
                  <a:pt x="3257934" y="9472"/>
                  <a:pt x="3257550" y="18288"/>
                </a:cubicBezTo>
                <a:cubicBezTo>
                  <a:pt x="3005417" y="4399"/>
                  <a:pt x="2789824" y="23493"/>
                  <a:pt x="2606040" y="18288"/>
                </a:cubicBezTo>
                <a:cubicBezTo>
                  <a:pt x="2422256" y="13084"/>
                  <a:pt x="2161816" y="17045"/>
                  <a:pt x="1889379" y="18288"/>
                </a:cubicBezTo>
                <a:cubicBezTo>
                  <a:pt x="1616942" y="19531"/>
                  <a:pt x="1456938" y="28545"/>
                  <a:pt x="1335595" y="18288"/>
                </a:cubicBezTo>
                <a:cubicBezTo>
                  <a:pt x="1214252" y="8031"/>
                  <a:pt x="876335" y="26295"/>
                  <a:pt x="684085" y="18288"/>
                </a:cubicBezTo>
                <a:cubicBezTo>
                  <a:pt x="491835" y="10282"/>
                  <a:pt x="213058" y="3432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5E45F-5AA3-7838-2BEF-0F376CFC2790}"/>
              </a:ext>
            </a:extLst>
          </p:cNvPr>
          <p:cNvSpPr txBox="1"/>
          <p:nvPr/>
        </p:nvSpPr>
        <p:spPr>
          <a:xfrm>
            <a:off x="459486" y="2908005"/>
            <a:ext cx="3971261" cy="32689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We compared 13 models using a unified evaluation pipeline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Metrics used: Accuracy, Precision, Recall, F1, ROC-AUC, PR-AUC, MCC, Confusion Matrix breakdown</a:t>
            </a:r>
            <a:endParaRPr lang="en-US" sz="150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ROC-AUC + PR-AUC: most important because minority class = bankrupt companies</a:t>
            </a:r>
            <a:endParaRPr lang="en-US" sz="150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Random Forest, </a:t>
            </a:r>
            <a:r>
              <a:rPr lang="en-US" sz="1500" err="1"/>
              <a:t>XGBoost</a:t>
            </a:r>
            <a:r>
              <a:rPr lang="en-US" sz="1500"/>
              <a:t>, </a:t>
            </a:r>
            <a:r>
              <a:rPr lang="en-US" sz="1500" err="1"/>
              <a:t>CatBoost</a:t>
            </a:r>
            <a:r>
              <a:rPr lang="en-US" sz="1500"/>
              <a:t>, and SVM-RBF consistently ranked highest</a:t>
            </a:r>
            <a:endParaRPr lang="en-US" sz="150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Naïve Bayes family performed poor</a:t>
            </a:r>
            <a:endParaRPr lang="en-US" sz="1500">
              <a:ea typeface="Calibri"/>
              <a:cs typeface="Calibri"/>
            </a:endParaRP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due to feature distribution + class imbalance</a:t>
            </a:r>
            <a:endParaRPr lang="en-US" sz="1500">
              <a:ea typeface="Calibri"/>
              <a:cs typeface="Calibri"/>
            </a:endParaRPr>
          </a:p>
        </p:txBody>
      </p:sp>
      <p:pic>
        <p:nvPicPr>
          <p:cNvPr id="5" name="Picture 4" descr="A graph of a curve&#10;&#10;AI-generated content may be incorrect.">
            <a:extLst>
              <a:ext uri="{FF2B5EF4-FFF2-40B4-BE49-F238E27FC236}">
                <a16:creationId xmlns:a16="http://schemas.microsoft.com/office/drawing/2014/main" id="{C0BF3910-BFF6-05CB-A040-5C495EF9A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774" y="712522"/>
            <a:ext cx="2317745" cy="1998698"/>
          </a:xfrm>
          <a:prstGeom prst="rect">
            <a:avLst/>
          </a:prstGeom>
        </p:spPr>
      </p:pic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5B44A1B-5DEF-B1CA-83BC-7C25AA3D9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906" y="736460"/>
            <a:ext cx="2335697" cy="1950824"/>
          </a:xfrm>
          <a:prstGeom prst="rect">
            <a:avLst/>
          </a:prstGeom>
        </p:spPr>
      </p:pic>
      <p:pic>
        <p:nvPicPr>
          <p:cNvPr id="7" name="Picture 6" descr="A chart of performance heatmap&#10;&#10;AI-generated content may be incorrect.">
            <a:extLst>
              <a:ext uri="{FF2B5EF4-FFF2-40B4-BE49-F238E27FC236}">
                <a16:creationId xmlns:a16="http://schemas.microsoft.com/office/drawing/2014/main" id="{E397DAC6-4CEF-52A8-8129-5D4C6EAC2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543" y="3220946"/>
            <a:ext cx="4177936" cy="264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04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5D67D5-D3E9-EE5A-662E-404BC4781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38" y="647700"/>
            <a:ext cx="7477125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532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7C3DD-FA27-587E-6CEB-0FACAAC56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9B8B8B3-83A0-F823-E73D-A30F24547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93" y="-639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700">
                <a:solidFill>
                  <a:srgbClr val="667EEA"/>
                </a:solidFill>
              </a:rPr>
              <a:t>TOP 4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47CB5-8EBE-1B78-5B1E-72C2478941C6}"/>
              </a:ext>
            </a:extLst>
          </p:cNvPr>
          <p:cNvSpPr txBox="1"/>
          <p:nvPr/>
        </p:nvSpPr>
        <p:spPr>
          <a:xfrm>
            <a:off x="309683" y="1012097"/>
            <a:ext cx="4095630" cy="55945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1500" dirty="0"/>
              <a:t>Random Forest is the most balanced model (overall)</a:t>
            </a:r>
            <a:endParaRPr lang="en-US" sz="1500" dirty="0">
              <a:ea typeface="Calibri"/>
              <a:cs typeface="Calibri"/>
            </a:endParaRPr>
          </a:p>
          <a:p>
            <a:pPr marL="742950" lvl="1" indent="-285750">
              <a:lnSpc>
                <a:spcPct val="90000"/>
              </a:lnSpc>
              <a:buFont typeface="Arial"/>
              <a:buChar char="•"/>
            </a:pPr>
            <a:r>
              <a:rPr lang="en-US" sz="1500" dirty="0">
                <a:ea typeface="Calibri"/>
                <a:cs typeface="Calibri"/>
              </a:rPr>
              <a:t>ROC-AUC (0.96), </a:t>
            </a:r>
          </a:p>
          <a:p>
            <a:pPr marL="742950" lvl="1" indent="-285750">
              <a:lnSpc>
                <a:spcPct val="90000"/>
              </a:lnSpc>
              <a:buFont typeface="Arial"/>
              <a:buChar char="•"/>
            </a:pPr>
            <a:r>
              <a:rPr lang="en-US" sz="1500" dirty="0">
                <a:ea typeface="Calibri"/>
                <a:cs typeface="Calibri"/>
              </a:rPr>
              <a:t>stable precision-recall balance, </a:t>
            </a:r>
          </a:p>
          <a:p>
            <a:pPr marL="742950" lvl="1" indent="-285750">
              <a:lnSpc>
                <a:spcPct val="90000"/>
              </a:lnSpc>
              <a:buFont typeface="Arial"/>
              <a:buChar char="•"/>
            </a:pPr>
            <a:r>
              <a:rPr lang="en-US" sz="1500" dirty="0">
                <a:ea typeface="Calibri"/>
                <a:cs typeface="Calibri"/>
              </a:rPr>
              <a:t>low false positive</a:t>
            </a:r>
          </a:p>
          <a:p>
            <a:pPr marL="742950" lvl="1" indent="-285750">
              <a:lnSpc>
                <a:spcPct val="90000"/>
              </a:lnSpc>
              <a:buFont typeface="Arial"/>
              <a:buChar char="•"/>
            </a:pPr>
            <a:r>
              <a:rPr lang="en-US" sz="1500" dirty="0">
                <a:ea typeface="Calibri"/>
                <a:cs typeface="Calibri"/>
              </a:rPr>
              <a:t>MCC = 0.56 (best indicator of reliability)</a:t>
            </a:r>
          </a:p>
          <a:p>
            <a:pPr lvl="1">
              <a:lnSpc>
                <a:spcPct val="90000"/>
              </a:lnSpc>
            </a:pPr>
            <a:endParaRPr lang="en-US" sz="15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1500" dirty="0" err="1">
                <a:ea typeface="Calibri"/>
                <a:cs typeface="Calibri"/>
              </a:rPr>
              <a:t>XGBoost</a:t>
            </a:r>
            <a:r>
              <a:rPr lang="en-US" sz="1500">
                <a:ea typeface="Calibri"/>
                <a:cs typeface="Calibri"/>
              </a:rPr>
              <a:t> achieves the best PR-AUC (0.61)</a:t>
            </a:r>
          </a:p>
          <a:p>
            <a:pPr marL="742950" lvl="1" indent="-285750">
              <a:lnSpc>
                <a:spcPct val="90000"/>
              </a:lnSpc>
              <a:buFont typeface="Arial"/>
              <a:buChar char="•"/>
            </a:pPr>
            <a:r>
              <a:rPr lang="en-US" sz="1500" dirty="0">
                <a:ea typeface="Calibri"/>
                <a:cs typeface="Calibri"/>
              </a:rPr>
              <a:t>Captures minority class patterns better</a:t>
            </a:r>
          </a:p>
          <a:p>
            <a:pPr marL="742950" lvl="1" indent="-285750">
              <a:lnSpc>
                <a:spcPct val="90000"/>
              </a:lnSpc>
              <a:buFont typeface="Arial"/>
              <a:buChar char="•"/>
            </a:pPr>
            <a:r>
              <a:rPr lang="en-US" sz="1500" dirty="0">
                <a:ea typeface="Calibri"/>
                <a:cs typeface="Calibri"/>
              </a:rPr>
              <a:t>Slightly lower recall than RF</a:t>
            </a:r>
          </a:p>
          <a:p>
            <a:pPr lvl="1">
              <a:lnSpc>
                <a:spcPct val="90000"/>
              </a:lnSpc>
            </a:pPr>
            <a:endParaRPr lang="en-US" sz="15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1500" dirty="0" err="1">
                <a:ea typeface="Calibri"/>
                <a:cs typeface="Calibri"/>
              </a:rPr>
              <a:t>CatBoost</a:t>
            </a:r>
            <a:r>
              <a:rPr lang="en-US" sz="1500" dirty="0">
                <a:ea typeface="Calibri"/>
                <a:cs typeface="Calibri"/>
              </a:rPr>
              <a:t> shows extremely high recall (0.93)</a:t>
            </a:r>
          </a:p>
          <a:p>
            <a:pPr marL="742950" lvl="1" indent="-285750">
              <a:lnSpc>
                <a:spcPct val="90000"/>
              </a:lnSpc>
              <a:buFont typeface="Arial"/>
              <a:buChar char="•"/>
            </a:pPr>
            <a:r>
              <a:rPr lang="en-US" sz="1500" dirty="0">
                <a:ea typeface="Calibri"/>
                <a:cs typeface="Calibri"/>
              </a:rPr>
              <a:t>But very low precision (0.15) &gt; many false alarms</a:t>
            </a:r>
          </a:p>
          <a:p>
            <a:pPr marL="742950" lvl="1" indent="-285750">
              <a:lnSpc>
                <a:spcPct val="90000"/>
              </a:lnSpc>
              <a:buFont typeface="Arial"/>
              <a:buChar char="•"/>
            </a:pPr>
            <a:r>
              <a:rPr lang="en-US" sz="1500" dirty="0">
                <a:ea typeface="Calibri"/>
                <a:cs typeface="Calibri"/>
              </a:rPr>
              <a:t>Useful if missing bankruptcies is very costly </a:t>
            </a:r>
          </a:p>
          <a:p>
            <a:pPr lvl="1">
              <a:lnSpc>
                <a:spcPct val="90000"/>
              </a:lnSpc>
            </a:pPr>
            <a:endParaRPr lang="en-US" sz="15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1500" dirty="0" err="1">
                <a:ea typeface="Calibri"/>
                <a:cs typeface="Calibri"/>
              </a:rPr>
              <a:t>SVM</a:t>
            </a:r>
            <a:r>
              <a:rPr lang="en-US" sz="1500" dirty="0">
                <a:ea typeface="Calibri"/>
                <a:cs typeface="Calibri"/>
              </a:rPr>
              <a:t>-RBF moderate performer</a:t>
            </a:r>
          </a:p>
          <a:p>
            <a:pPr marL="742950" lvl="1" indent="-285750">
              <a:lnSpc>
                <a:spcPct val="90000"/>
              </a:lnSpc>
              <a:buFont typeface="Arial"/>
              <a:buChar char="•"/>
            </a:pPr>
            <a:r>
              <a:rPr lang="en-US" sz="1500" dirty="0">
                <a:ea typeface="Calibri"/>
                <a:cs typeface="Calibri"/>
              </a:rPr>
              <a:t>Good recall (0.70)</a:t>
            </a:r>
          </a:p>
          <a:p>
            <a:pPr marL="742950" lvl="1" indent="-285750">
              <a:lnSpc>
                <a:spcPct val="90000"/>
              </a:lnSpc>
              <a:buFont typeface="Arial"/>
              <a:buChar char="•"/>
            </a:pPr>
            <a:r>
              <a:rPr lang="en-US" sz="1500" dirty="0">
                <a:ea typeface="Calibri"/>
                <a:cs typeface="Calibri"/>
              </a:rPr>
              <a:t>Lower PR-AUC due to probability spread</a:t>
            </a:r>
          </a:p>
          <a:p>
            <a:pPr marL="742950" lvl="1" indent="-285750">
              <a:lnSpc>
                <a:spcPct val="90000"/>
              </a:lnSpc>
              <a:buFont typeface="Arial"/>
              <a:buChar char="•"/>
            </a:pPr>
            <a:endParaRPr lang="en-US" sz="15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1500" dirty="0">
                <a:ea typeface="Calibri"/>
                <a:cs typeface="Calibri"/>
              </a:rPr>
              <a:t>Error analysis shows </a:t>
            </a:r>
            <a:r>
              <a:rPr lang="en-US" sz="1500" dirty="0" err="1">
                <a:ea typeface="Calibri"/>
                <a:cs typeface="Calibri"/>
              </a:rPr>
              <a:t>CatBoost</a:t>
            </a:r>
            <a:r>
              <a:rPr lang="en-US" sz="1500" dirty="0">
                <a:ea typeface="Calibri"/>
                <a:cs typeface="Calibri"/>
              </a:rPr>
              <a:t> produces the most false positives and RF the least</a:t>
            </a:r>
          </a:p>
          <a:p>
            <a:pPr>
              <a:lnSpc>
                <a:spcPct val="90000"/>
              </a:lnSpc>
            </a:pPr>
            <a:endParaRPr lang="en-US" sz="15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1500" dirty="0">
                <a:ea typeface="Calibri"/>
                <a:cs typeface="Calibri"/>
              </a:rPr>
              <a:t>Probability distribution plots show RF + </a:t>
            </a:r>
            <a:r>
              <a:rPr lang="en-US" sz="1500" dirty="0" err="1">
                <a:ea typeface="Calibri"/>
                <a:cs typeface="Calibri"/>
              </a:rPr>
              <a:t>XGBoost</a:t>
            </a:r>
            <a:r>
              <a:rPr lang="en-US" sz="1500" dirty="0">
                <a:ea typeface="Calibri"/>
                <a:cs typeface="Calibri"/>
              </a:rPr>
              <a:t> are most calibrated</a:t>
            </a:r>
          </a:p>
        </p:txBody>
      </p:sp>
      <p:pic>
        <p:nvPicPr>
          <p:cNvPr id="4" name="Picture 3" descr="A diagram of a radar plot&#10;&#10;AI-generated content may be incorrect.">
            <a:extLst>
              <a:ext uri="{FF2B5EF4-FFF2-40B4-BE49-F238E27FC236}">
                <a16:creationId xmlns:a16="http://schemas.microsoft.com/office/drawing/2014/main" id="{4A01144A-F967-7BD5-20FC-6D3200C86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668" y="103703"/>
            <a:ext cx="2687498" cy="2072611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B3C56038-0751-CE2D-4CBE-DBC63E070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96" y="2388705"/>
            <a:ext cx="4099242" cy="20805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44E366-3345-EA20-7F40-73673E685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451" y="4507569"/>
            <a:ext cx="2763947" cy="209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9386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F28106-758A-34B9-7063-7988F402F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0A59E1-D2DC-3A98-A6AE-8E962A3A3935}"/>
              </a:ext>
            </a:extLst>
          </p:cNvPr>
          <p:cNvSpPr txBox="1"/>
          <p:nvPr/>
        </p:nvSpPr>
        <p:spPr>
          <a:xfrm>
            <a:off x="1265971" y="2632443"/>
            <a:ext cx="6198485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en-US" sz="3600"/>
              <a:t>Thank You!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31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1567</Words>
  <Application>Microsoft Office PowerPoint</Application>
  <PresentationFormat>On-screen Show (4:3)</PresentationFormat>
  <Paragraphs>374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Problem Statement</vt:lpstr>
      <vt:lpstr>Project Overview</vt:lpstr>
      <vt:lpstr>Data Understanding</vt:lpstr>
      <vt:lpstr>Data Cleaning</vt:lpstr>
      <vt:lpstr>Target Distribution</vt:lpstr>
      <vt:lpstr>Correlation Analysis</vt:lpstr>
      <vt:lpstr> Top Predictive Features</vt:lpstr>
      <vt:lpstr> Distribution Analysis</vt:lpstr>
      <vt:lpstr> Principal Component Analysis</vt:lpstr>
      <vt:lpstr>Model Development</vt:lpstr>
      <vt:lpstr> SMOTE Oversampling</vt:lpstr>
      <vt:lpstr>Model 1 - KNN</vt:lpstr>
      <vt:lpstr>KNN Model Performance</vt:lpstr>
      <vt:lpstr>KNN Evaluation</vt:lpstr>
      <vt:lpstr>Model 2 -ANN</vt:lpstr>
      <vt:lpstr>ANN Model Performance</vt:lpstr>
      <vt:lpstr>ANN Evaluation</vt:lpstr>
      <vt:lpstr>Model 3-SVM</vt:lpstr>
      <vt:lpstr>SVM Model Performance</vt:lpstr>
      <vt:lpstr>SVM Evaluation</vt:lpstr>
      <vt:lpstr>Model 4-CatBoost</vt:lpstr>
      <vt:lpstr>CatBoost Model Performance</vt:lpstr>
      <vt:lpstr>CatBoost Evaluation</vt:lpstr>
      <vt:lpstr>Model 5 -  XG boost</vt:lpstr>
      <vt:lpstr>    Observations of XGBoost Model</vt:lpstr>
      <vt:lpstr>Confusion Matrix and ROC curve.</vt:lpstr>
      <vt:lpstr>Model 6 – Naïve Bayes</vt:lpstr>
      <vt:lpstr>Naïve Bayes Model Performance</vt:lpstr>
      <vt:lpstr>NB Other Models</vt:lpstr>
      <vt:lpstr>Model 7 –Random Forest</vt:lpstr>
      <vt:lpstr>RF Model Performance</vt:lpstr>
      <vt:lpstr>RF Evaluation</vt:lpstr>
      <vt:lpstr>Conclusion</vt:lpstr>
      <vt:lpstr>PowerPoint Presentation</vt:lpstr>
      <vt:lpstr>TOP 4 Models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Ayushi Gupta</dc:creator>
  <cp:keywords/>
  <dc:description>generated using python-pptx</dc:description>
  <cp:lastModifiedBy>Ayushi Gupta</cp:lastModifiedBy>
  <cp:revision>8</cp:revision>
  <dcterms:created xsi:type="dcterms:W3CDTF">2013-01-27T09:14:16Z</dcterms:created>
  <dcterms:modified xsi:type="dcterms:W3CDTF">2025-12-07T18:53:08Z</dcterms:modified>
  <cp:category/>
</cp:coreProperties>
</file>